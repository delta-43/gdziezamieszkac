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oblem" id="{df67025d-20b9-d428-aeef-81cfdfc1ceab}">
          <p14:sldIdLst>
            <p14:sldId id="256"/>
          </p14:sldIdLst>
        </p14:section>
        <p14:section name="Idea" id="{78badeaf-d007-b9d7-9d57-a159d1f10b3b}">
          <p14:sldIdLst>
            <p14:sldId id="257"/>
          </p14:sldIdLst>
        </p14:section>
        <p14:section name="City service" id="{9844fa07-2a6b-c65d-3ed7-201458e4f0ad}">
          <p14:sldIdLst>
            <p14:sldId id="258"/>
          </p14:sldIdLst>
        </p14:section>
        <p14:section name="Score" id="{c1e6a491-12f8-a28e-05a0-f48c2d696891}">
          <p14:sldIdLst>
            <p14:sldId id="259"/>
          </p14:sldIdLst>
        </p14:section>
        <p14:section name="Trust" id="{561febce-08a2-889b-74d0-e69c1c4fbcc4}">
          <p14:sldIdLst>
            <p14:sldId id="260"/>
          </p14:sldIdLst>
        </p14:section>
        <p14:section name="Data" id="{4188780b-ee82-e5bd-4675-423c6a99f4f8}">
          <p14:sldIdLst>
            <p14:sldId id="261"/>
          </p14:sldIdLst>
        </p14:section>
        <p14:section name="AI and privacy" id="{4a8ec1cb-5e4d-6deb-2f11-5d07e8e76955}">
          <p14:sldIdLst>
            <p14:sldId id="262"/>
          </p14:sldIdLst>
        </p14:section>
        <p14:section name="Demo" id="{d7d714e7-b03f-6127-210c-a216f6718fbf}">
          <p14:sldIdLst>
            <p14:sldId id="263"/>
          </p14:sldIdLst>
        </p14:section>
        <p14:section name="City and market" id="{a6c4996c-89bd-0a94-2cf0-b45dd1d578ec}">
          <p14:sldIdLst>
            <p14:sldId id="264"/>
          </p14:sldIdLst>
        </p14:section>
        <p14:section name="Work and roadmap" id="{9ba63cf2-7c27-6872-5f1e-48f694cedfc8}">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Picture a family with two kids who are new to Kraków. People choose a flat before they choose a district, and every site they open shows offers, not what living in a district is like. The answers exist, but sit in separate public sources with different dates and formats. There is no trusted, simple source for comparing districts. That is the gap. 
Presenter: Optional: add one real statistic, with its source, on how many people move to or within Kraków. The family is an illustration, not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what it is not first, so nobody files us under property portals: no listings, no brokers, no links to offers. Two beneficiaries. People get a tool to choose where to live: single people, couples, families, seniors and students. The city gets a public service it can host and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main difference from commercial products. The free tier needs no login. A city can hold official records. It can publish official notices; that is a concept and we do not demo it. And later it can collect verified feedback from residents. A commercial portal has none of this trust, and none of this reach. It is what ties the project to the Smart City category.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districts, 45 metrics with data, in seven categories: transport, demographics, amenities, environment, livability, cost and safety indicators. Users set what matters to them, or pick one of five persona presets. The score is percentile ranks within Kraków, from 0 to 100, with the user's weights. It is explainable: every ranking names the metrics behind it. And it is computed in code and tested. A language model never computes the score. If the AI judges ask where AI is used, this is the first answer: not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probably our strongest differentiator. Most tools show numbers with no explanation. Every value carries its kind (observed, estimated or proxy), its source, licence, date, method and caveat. Where there is no data, the app says why and shows no zero. And we admit limits. We score districts, not addresses, because an address score would imply precision the data does not have. We show no price forecast: we tested two methods and neither beat a naive baseline, so we publish the history and the backtest. Safety wording is recorded crimes per 10 000 residents; the app never says safe or dangerous. Admitting limits is why you can trust the rest. 
Presenter: Be ready for the question on crime data: Kraków has none by district, so the safety category leans on road accidents and proxies, and says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proves the data is real and the tool is practical. Sale prices come from actual deeds in the national price register, not from asking prices. A commute matrix gives public transport time between districts. A rent-versus-buy estimate helps with the decision most people actually face. Polish by default, with an English toggle for newcomers. Be straight about limits: the rents are a one-time snapshot of asking rents, and commutes above about 60 minutes are lower bounds. 
Presenter: Check before presenting: price history, commute and rent-versus-buy are served by the API (tasks F10 to F12 in TODO.md are still open for the frontend), so show them only if the screens are merged. Otherwise say they are in the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 task sheet wants a clear and checkable role for AI. Ours: a language model writes the district report from stored facts and may only cite the numbers it is given. A guard checks the text and rejects any number that is not in the facts. Every report carries an AI label. The personalised report, where you type what you need, is built in the separate city service, under the same guard. The score itself is never AI. Privacy: the backend is read-only and stores nothing about users. The household profile, once built, stays in the browser and only sets weights; it never filters by who lives in a district, because steering by demographics is a legal risk. 
Presenter: Open decision in TODO.md: agree the exact wording of AI's role for the AI task before you present. This slide is a proposal: narrate and translate, guarded, labelled, never scoring.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demo to about three minutes. Pick a persona, for example the family, or set your own priorities. See the districts ranked on the accessible map. Open a district: show provenance on a number, the AI-labelled report and the price history. Compare two districts, including what is missing. On design: the look follows krakow.pl, the target is WCAG 2.2 AA, which is a legal duty for a public service, and the app works with a keyboard and on small screens. 
Presenter: The demo depends on the coordinator's machine and Tailscale. Record a backup video of this flow and keep it ready. Do not demo notices or demand counts: they are concepts. Say WCAG is the target; the manual keyboard and screen-reader checks are still open in TODO.md.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concepts and we mark them as such: we build no fake endpoints and show no fake data for them. A city could publish official notices, collect verified feedback with identity checked and a salted token so that a landlord cannot trace a report, and see anonymous demand counts by district. Two pieces are real, in the separate city service: the personalised AI report, and resident feedback, which is stored as unverified and never published. The market, in one slide. MiejscoMetr scores a single address. Locumo writes property reports. Dobra Lokacja is a free map. PolandRent and Otodom Analytics cover prices. Our edge: a district recommender with household profiles, provenance on every number, prices from deeds, a commute matrix, and a city behind it. 
Presenter: Preliminary market scan as of 3 October 2026. Do not claim it is exhaustive. The household profile is planned, not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HackYeah asks us to separate earlier work from on-site work. Before the event, from 29 September to 2 October, we built the data collection, the database and the read-only backend API. The first commit of the repository is the import of that earlier work, and every change to it is logged in the on-site changelog. On site we built the frontend, the city service with the personalised AI report and resident feedback, and the documents. The path to real use: deploy on a server, get a Polish legal opinion on fees and on AI transparency under Article 50 of the EU AI Act, connect the national login node, add a second city, and replace the one-time rent snapshot with data-sharing agreements. That also answers who operates it and who pays: the city is the natural host, and the legal opinion settles fees. 
Presenter: Update the on-site column to what is finished before you present. Full credit lines and licences are in docs/DATA_SOURCES.md and README.md; the AI disclosure is in README.md.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502920"/>
            <a:ext cx="10360152" cy="1143000"/>
          </a:xfrm>
          <a:prstGeom prst="rect">
            <a:avLst/>
          </a:prstGeom>
          <a:noFill/>
          <a:ln/>
        </p:spPr>
        <p:txBody>
          <a:bodyPr wrap="square" rtlCol="0"/>
          <a:lstStyle>
            <a:lvl1pPr indent="0" marL="0">
              <a:buNone/>
              <a:defRPr lang="en-US" sz="3600" b="1" dirty="0">
                <a:solidFill>
                  <a:schemeClr val="bg1"/>
                </a:solidFill>
              </a:defRPr>
            </a:lvl1pPr>
          </a:lstStyle>
          <a:p>
            <a:pPr indent="0" marL="0">
              <a:buNone/>
            </a:pPr>
            <a:endParaRPr lang="en-US" sz="3600" dirty="0"/>
          </a:p>
        </p:txBody>
      </p:sp>
      <p:sp>
        <p:nvSpPr>
          <p:cNvPr id="25" name="Slide Number Placeholder 0"/>
          <p:cNvSpPr>
            <a:spLocks noGrp="1"/>
          </p:cNvSpPr>
          <p:nvPr>
            <p:ph type="sldNum" sz="quarter" idx="4294967295"/>
          </p:nvPr>
        </p:nvSpPr>
        <p:spPr>
          <a:xfrm>
            <a:off x="11000232" y="27432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2"/>
                </a:solidFill>
              </a:defRPr>
            </a:lvl1pPr>
          </a:lstStyle>
          <a:p>
            <a:pPr algn="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502920"/>
            <a:ext cx="10360152" cy="1143000"/>
          </a:xfrm>
          <a:prstGeom prst="rect">
            <a:avLst/>
          </a:prstGeom>
          <a:noFill/>
          <a:ln/>
        </p:spPr>
        <p:txBody>
          <a:bodyPr wrap="square" rtlCol="0"/>
          <a:lstStyle>
            <a:lvl1pPr indent="0" marL="0">
              <a:buNone/>
              <a:defRPr lang="en-US" sz="3600" b="1" dirty="0">
                <a:solidFill>
                  <a:schemeClr val="tx1"/>
                </a:solidFill>
              </a:defRPr>
            </a:lvl1pPr>
          </a:lstStyle>
          <a:p>
            <a:pPr indent="0" marL="0">
              <a:buNone/>
            </a:pPr>
            <a:endParaRPr lang="en-US" sz="3600" dirty="0"/>
          </a:p>
        </p:txBody>
      </p:sp>
      <p:sp>
        <p:nvSpPr>
          <p:cNvPr id="25" name="Slide Number Placeholder 0"/>
          <p:cNvSpPr>
            <a:spLocks noGrp="1"/>
          </p:cNvSpPr>
          <p:nvPr>
            <p:ph type="sldNum" sz="quarter" idx="4294967295"/>
          </p:nvPr>
        </p:nvSpPr>
        <p:spPr>
          <a:xfrm>
            <a:off x="11000232" y="27432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1"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AND">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502920"/>
            <a:ext cx="10360152" cy="1143000"/>
          </a:xfrm>
          <a:prstGeom prst="rect">
            <a:avLst/>
          </a:prstGeom>
          <a:noFill/>
          <a:ln/>
        </p:spPr>
        <p:txBody>
          <a:bodyPr wrap="square" rtlCol="0"/>
          <a:lstStyle>
            <a:lvl1pPr indent="0" marL="0">
              <a:buNone/>
              <a:defRPr lang="en-US" sz="3600" b="1" dirty="0">
                <a:solidFill>
                  <a:schemeClr val="tx1"/>
                </a:solidFill>
              </a:defRPr>
            </a:lvl1pPr>
          </a:lstStyle>
          <a:p>
            <a:pPr indent="0" marL="0">
              <a:buNone/>
            </a:pPr>
            <a:endParaRPr lang="en-US" sz="3600" dirty="0"/>
          </a:p>
        </p:txBody>
      </p:sp>
      <p:sp>
        <p:nvSpPr>
          <p:cNvPr id="25" name="Slide Number Placeholder 0"/>
          <p:cNvSpPr>
            <a:spLocks noGrp="1"/>
          </p:cNvSpPr>
          <p:nvPr>
            <p:ph type="sldNum" sz="quarter" idx="4294967295"/>
          </p:nvPr>
        </p:nvSpPr>
        <p:spPr>
          <a:xfrm>
            <a:off x="11000232" y="27432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1"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0232" y="27432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2"/>
                </a:solidFill>
              </a:defRPr>
            </a:lvl1pPr>
          </a:lstStyle>
          <a:p>
            <a:pPr algn="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Eyebrow"/>
          <p:cNvSpPr txBox="1"/>
          <p:nvPr/>
        </p:nvSpPr>
        <p:spPr>
          <a:xfrm>
            <a:off x="640080" y="822960"/>
            <a:ext cx="10908792" cy="274320"/>
          </a:xfrm>
          <a:prstGeom prst="rect">
            <a:avLst/>
          </a:prstGeom>
          <a:noFill/>
          <a:ln/>
        </p:spPr>
        <p:txBody>
          <a:bodyPr wrap="square" lIns="0" tIns="0" rIns="0" bIns="0" rtlCol="0" anchor="ctr"/>
          <a:lstStyle/>
          <a:p>
            <a:pPr indent="0" marL="0">
              <a:buNone/>
            </a:pPr>
            <a:r>
              <a:rPr lang="en-US" sz="1100" b="1" spc="100" kern="0" dirty="0">
                <a:solidFill>
                  <a:srgbClr val="B5D3EE"/>
                </a:solidFill>
              </a:rPr>
              <a:t>GDZIEZAMIESZKAĆ · HACKYEAH 2026 · SMART CITY</a:t>
            </a:r>
            <a:endParaRPr lang="en-US" sz="1100" dirty="0"/>
          </a:p>
        </p:txBody>
      </p:sp>
      <p:sp>
        <p:nvSpPr>
          <p:cNvPr id="4" name="Text 0"/>
          <p:cNvSpPr/>
          <p:nvPr>
            <p:ph idx="100" type="title" hasCustomPrompt="1"/>
          </p:nvPr>
        </p:nvSpPr>
        <p:spPr>
          <a:xfrm>
            <a:off x="640080" y="502920"/>
            <a:ext cx="10360152" cy="1143000"/>
          </a:xfrm>
          <a:prstGeom prst="rect">
            <a:avLst/>
          </a:prstGeom>
          <a:noFill/>
          <a:ln/>
        </p:spPr>
        <p:txBody>
          <a:bodyPr wrap="square" lIns="0" tIns="0" rIns="0" bIns="0" rtlCol="0" anchor="t"/>
          <a:lstStyle/>
          <a:p>
            <a:pPr indent="0" marL="0">
              <a:buNone/>
            </a:pPr>
            <a:r>
              <a:rPr lang="en-US" sz="3600" b="1" dirty="0">
                <a:solidFill>
                  <a:schemeClr val="bg1"/>
                </a:solidFill>
              </a:rPr>
              <a:t>Which district first.</a:t>
            </a:r>
            <a:endParaRPr lang="en-US" sz="3600" dirty="0"/>
          </a:p>
          <a:p>
            <a:pPr indent="0" marL="0">
              <a:buNone/>
            </a:pPr>
            <a:r>
              <a:rPr lang="en-US" sz="3600" b="1" dirty="0">
                <a:solidFill>
                  <a:schemeClr val="bg1"/>
                </a:solidFill>
              </a:rPr>
              <a:t>Then the flat.</a:t>
            </a:r>
            <a:endParaRPr lang="en-US" sz="3600" dirty="0"/>
          </a:p>
        </p:txBody>
      </p:sp>
      <p:sp>
        <p:nvSpPr>
          <p:cNvPr id="5" name="Card"/>
          <p:cNvSpPr/>
          <p:nvPr/>
        </p:nvSpPr>
        <p:spPr>
          <a:xfrm>
            <a:off x="640080" y="3749040"/>
            <a:ext cx="3453384" cy="2194560"/>
          </a:xfrm>
          <a:prstGeom prst="roundRect">
            <a:avLst>
              <a:gd name="adj" fmla="val 6250"/>
            </a:avLst>
          </a:prstGeom>
          <a:solidFill>
            <a:srgbClr val="FFFFFF">
              <a:alpha val="10000"/>
            </a:srgbClr>
          </a:solidFill>
          <a:ln w="12700">
            <a:solidFill>
              <a:srgbClr val="5F83A8"/>
            </a:solidFill>
            <a:prstDash val="solid"/>
          </a:ln>
        </p:spPr>
      </p:sp>
      <p:sp>
        <p:nvSpPr>
          <p:cNvPr id="6" name="Eyebrow"/>
          <p:cNvSpPr txBox="1"/>
          <p:nvPr/>
        </p:nvSpPr>
        <p:spPr>
          <a:xfrm>
            <a:off x="914400" y="4023360"/>
            <a:ext cx="2904744" cy="274320"/>
          </a:xfrm>
          <a:prstGeom prst="rect">
            <a:avLst/>
          </a:prstGeom>
          <a:noFill/>
          <a:ln/>
        </p:spPr>
        <p:txBody>
          <a:bodyPr wrap="square" lIns="0" tIns="0" rIns="0" bIns="0" rtlCol="0" anchor="ctr"/>
          <a:lstStyle/>
          <a:p>
            <a:pPr indent="0" marL="0">
              <a:buNone/>
            </a:pPr>
            <a:r>
              <a:rPr lang="en-US" sz="1100" b="1" spc="100" kern="0" dirty="0">
                <a:solidFill>
                  <a:srgbClr val="B5D3EE"/>
                </a:solidFill>
              </a:rPr>
              <a:t>A FAMILY, NEW TO KRAKÓW</a:t>
            </a:r>
            <a:endParaRPr lang="en-US" sz="1100" dirty="0"/>
          </a:p>
        </p:txBody>
      </p:sp>
      <p:sp>
        <p:nvSpPr>
          <p:cNvPr id="7" name="Text 4"/>
          <p:cNvSpPr txBox="1"/>
          <p:nvPr/>
        </p:nvSpPr>
        <p:spPr>
          <a:xfrm>
            <a:off x="914400" y="4389120"/>
            <a:ext cx="2904744" cy="1371600"/>
          </a:xfrm>
          <a:prstGeom prst="rect">
            <a:avLst/>
          </a:prstGeom>
          <a:noFill/>
          <a:ln/>
        </p:spPr>
        <p:txBody>
          <a:bodyPr wrap="square" lIns="0" tIns="0" rIns="0" bIns="0" rtlCol="0" anchor="t"/>
          <a:lstStyle/>
          <a:p>
            <a:pPr indent="0" marL="0">
              <a:buNone/>
            </a:pPr>
            <a:r>
              <a:rPr lang="en-US" sz="2200" b="1" dirty="0">
                <a:solidFill>
                  <a:schemeClr val="bg1"/>
                </a:solidFill>
              </a:rPr>
              <a:t>“Two kids, one job in Podgórze. Where do we even look?”</a:t>
            </a:r>
            <a:endParaRPr lang="en-US" sz="2200" dirty="0"/>
          </a:p>
        </p:txBody>
      </p:sp>
      <p:sp>
        <p:nvSpPr>
          <p:cNvPr id="8" name="Card"/>
          <p:cNvSpPr/>
          <p:nvPr/>
        </p:nvSpPr>
        <p:spPr>
          <a:xfrm>
            <a:off x="4367784" y="3749040"/>
            <a:ext cx="3453384" cy="2194560"/>
          </a:xfrm>
          <a:prstGeom prst="roundRect">
            <a:avLst>
              <a:gd name="adj" fmla="val 6250"/>
            </a:avLst>
          </a:prstGeom>
          <a:solidFill>
            <a:srgbClr val="FFFFFF">
              <a:alpha val="10000"/>
            </a:srgbClr>
          </a:solidFill>
          <a:ln w="12700">
            <a:solidFill>
              <a:srgbClr val="5F83A8"/>
            </a:solidFill>
            <a:prstDash val="solid"/>
          </a:ln>
        </p:spPr>
      </p:sp>
      <p:sp>
        <p:nvSpPr>
          <p:cNvPr id="9" name="Eyebrow"/>
          <p:cNvSpPr txBox="1"/>
          <p:nvPr/>
        </p:nvSpPr>
        <p:spPr>
          <a:xfrm>
            <a:off x="4642104" y="4023360"/>
            <a:ext cx="2904744" cy="274320"/>
          </a:xfrm>
          <a:prstGeom prst="rect">
            <a:avLst/>
          </a:prstGeom>
          <a:noFill/>
          <a:ln/>
        </p:spPr>
        <p:txBody>
          <a:bodyPr wrap="square" lIns="0" tIns="0" rIns="0" bIns="0" rtlCol="0" anchor="ctr"/>
          <a:lstStyle/>
          <a:p>
            <a:pPr indent="0" marL="0">
              <a:buNone/>
            </a:pPr>
            <a:r>
              <a:rPr lang="en-US" sz="1100" b="1" spc="100" kern="0" dirty="0">
                <a:solidFill>
                  <a:srgbClr val="B5D3EE"/>
                </a:solidFill>
              </a:rPr>
              <a:t>WHAT THEY FIND</a:t>
            </a:r>
            <a:endParaRPr lang="en-US" sz="1100" dirty="0"/>
          </a:p>
        </p:txBody>
      </p:sp>
      <p:sp>
        <p:nvSpPr>
          <p:cNvPr id="10" name="Text 7"/>
          <p:cNvSpPr txBox="1"/>
          <p:nvPr/>
        </p:nvSpPr>
        <p:spPr>
          <a:xfrm>
            <a:off x="4642104" y="4389120"/>
            <a:ext cx="2904744" cy="1371600"/>
          </a:xfrm>
          <a:prstGeom prst="rect">
            <a:avLst/>
          </a:prstGeom>
          <a:noFill/>
          <a:ln/>
        </p:spPr>
        <p:txBody>
          <a:bodyPr wrap="square" lIns="0" tIns="0" rIns="0" bIns="0" rtlCol="0" anchor="t"/>
          <a:lstStyle/>
          <a:p>
            <a:pPr indent="0" marL="0">
              <a:buNone/>
            </a:pPr>
            <a:r>
              <a:rPr lang="en-US" sz="2200" b="1" dirty="0">
                <a:solidFill>
                  <a:schemeClr val="bg1"/>
                </a:solidFill>
              </a:rPr>
              <a:t>Thousands of listings. Nothing on schools, air, noise or commute.</a:t>
            </a:r>
            <a:endParaRPr lang="en-US" sz="2200" dirty="0"/>
          </a:p>
        </p:txBody>
      </p:sp>
      <p:sp>
        <p:nvSpPr>
          <p:cNvPr id="11" name="Card"/>
          <p:cNvSpPr/>
          <p:nvPr/>
        </p:nvSpPr>
        <p:spPr>
          <a:xfrm>
            <a:off x="8095488" y="3749040"/>
            <a:ext cx="3453384" cy="2194560"/>
          </a:xfrm>
          <a:prstGeom prst="roundRect">
            <a:avLst>
              <a:gd name="adj" fmla="val 6250"/>
            </a:avLst>
          </a:prstGeom>
          <a:solidFill>
            <a:srgbClr val="FFFFFF">
              <a:alpha val="10000"/>
            </a:srgbClr>
          </a:solidFill>
          <a:ln w="12700">
            <a:solidFill>
              <a:srgbClr val="5F83A8"/>
            </a:solidFill>
            <a:prstDash val="solid"/>
          </a:ln>
        </p:spPr>
      </p:sp>
      <p:sp>
        <p:nvSpPr>
          <p:cNvPr id="12" name="Eyebrow"/>
          <p:cNvSpPr txBox="1"/>
          <p:nvPr/>
        </p:nvSpPr>
        <p:spPr>
          <a:xfrm>
            <a:off x="8369808" y="4023360"/>
            <a:ext cx="2904744" cy="274320"/>
          </a:xfrm>
          <a:prstGeom prst="rect">
            <a:avLst/>
          </a:prstGeom>
          <a:noFill/>
          <a:ln/>
        </p:spPr>
        <p:txBody>
          <a:bodyPr wrap="square" lIns="0" tIns="0" rIns="0" bIns="0" rtlCol="0" anchor="ctr"/>
          <a:lstStyle/>
          <a:p>
            <a:pPr indent="0" marL="0">
              <a:buNone/>
            </a:pPr>
            <a:r>
              <a:rPr lang="en-US" sz="1100" b="1" spc="100" kern="0" dirty="0">
                <a:solidFill>
                  <a:srgbClr val="B5D3EE"/>
                </a:solidFill>
              </a:rPr>
              <a:t>WHAT IS MISSING</a:t>
            </a:r>
            <a:endParaRPr lang="en-US" sz="1100" dirty="0"/>
          </a:p>
        </p:txBody>
      </p:sp>
      <p:sp>
        <p:nvSpPr>
          <p:cNvPr id="13" name="Text 10"/>
          <p:cNvSpPr txBox="1"/>
          <p:nvPr/>
        </p:nvSpPr>
        <p:spPr>
          <a:xfrm>
            <a:off x="8369808" y="4389120"/>
            <a:ext cx="2904744" cy="1371600"/>
          </a:xfrm>
          <a:prstGeom prst="rect">
            <a:avLst/>
          </a:prstGeom>
          <a:noFill/>
          <a:ln/>
        </p:spPr>
        <p:txBody>
          <a:bodyPr wrap="square" lIns="0" tIns="0" rIns="0" bIns="0" rtlCol="0" anchor="t"/>
          <a:lstStyle/>
          <a:p>
            <a:pPr indent="0" marL="0">
              <a:buNone/>
            </a:pPr>
            <a:r>
              <a:rPr lang="en-US" sz="2200" b="1" dirty="0">
                <a:solidFill>
                  <a:srgbClr val="B5D3EE"/>
                </a:solidFill>
              </a:rPr>
              <a:t>One trusted, simple way to compare districts.</a:t>
            </a:r>
            <a:endParaRPr lang="en-US" sz="2200" dirty="0"/>
          </a:p>
        </p:txBody>
      </p:sp>
      <p:sp>
        <p:nvSpPr>
          <p:cNvPr id="25" name="Slide Number Placeholder 0"/>
          <p:cNvSpPr>
            <a:spLocks noGrp="1"/>
          </p:cNvSpPr>
          <p:nvPr>
            <p:ph type="sldNum" sz="quarter" idx="4294967295"/>
          </p:nvPr>
        </p:nvSpPr>
        <p:spPr>
          <a:xfrm>
            <a:off x="11000232" y="27432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2"/>
                </a:solidFill>
              </a:defRPr>
            </a:lvl1pPr>
          </a:lstStyle>
          <a:p>
            <a:pPr algn="r"/>
            <a:fld id="{F7021451-1387-4CA6-816F-3879F97B5CBC}" type="slidenum">
              <a:rPr b="1"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Eyebrow"/>
          <p:cNvSpPr txBox="1"/>
          <p:nvPr/>
        </p:nvSpPr>
        <p:spPr>
          <a:xfrm>
            <a:off x="640080" y="274320"/>
            <a:ext cx="5486400" cy="274320"/>
          </a:xfrm>
          <a:prstGeom prst="rect">
            <a:avLst/>
          </a:prstGeom>
          <a:noFill/>
          <a:ln/>
        </p:spPr>
        <p:txBody>
          <a:bodyPr wrap="square" lIns="0" tIns="0" rIns="0" bIns="0" rtlCol="0" anchor="ctr"/>
          <a:lstStyle/>
          <a:p>
            <a:pPr indent="0" marL="0">
              <a:buNone/>
            </a:pPr>
            <a:r>
              <a:rPr lang="en-US" sz="1100" b="1" spc="100" kern="0" dirty="0">
                <a:solidFill>
                  <a:srgbClr val="0063AF"/>
                </a:solidFill>
              </a:rPr>
              <a:t>THE IDEA IN ONE SENTENCE</a:t>
            </a:r>
            <a:endParaRPr lang="en-US" sz="1100" dirty="0"/>
          </a:p>
        </p:txBody>
      </p:sp>
      <p:sp>
        <p:nvSpPr>
          <p:cNvPr id="4" name="Text 0"/>
          <p:cNvSpPr/>
          <p:nvPr>
            <p:ph idx="100" type="title" hasCustomPrompt="1"/>
          </p:nvPr>
        </p:nvSpPr>
        <p:spPr>
          <a:xfrm>
            <a:off x="640080" y="502920"/>
            <a:ext cx="10360152" cy="1143000"/>
          </a:xfrm>
          <a:prstGeom prst="rect">
            <a:avLst/>
          </a:prstGeom>
          <a:noFill/>
          <a:ln/>
        </p:spPr>
        <p:txBody>
          <a:bodyPr wrap="square" lIns="0" tIns="0" rIns="0" bIns="0" rtlCol="0" anchor="t"/>
          <a:lstStyle/>
          <a:p>
            <a:pPr indent="0" marL="0">
              <a:buNone/>
            </a:pPr>
            <a:r>
              <a:rPr lang="en-US" sz="3600" b="1" dirty="0">
                <a:solidFill>
                  <a:schemeClr val="tx1"/>
                </a:solidFill>
              </a:rPr>
              <a:t>GdzieZamieszkać helps you choose a district before you look at flats</a:t>
            </a:r>
            <a:endParaRPr lang="en-US" sz="3600" dirty="0"/>
          </a:p>
        </p:txBody>
      </p:sp>
      <p:sp>
        <p:nvSpPr>
          <p:cNvPr id="5" name="Card"/>
          <p:cNvSpPr/>
          <p:nvPr/>
        </p:nvSpPr>
        <p:spPr>
          <a:xfrm>
            <a:off x="640080" y="2560320"/>
            <a:ext cx="5271516" cy="3383280"/>
          </a:xfrm>
          <a:prstGeom prst="roundRect">
            <a:avLst>
              <a:gd name="adj" fmla="val 4054"/>
            </a:avLst>
          </a:prstGeom>
          <a:solidFill>
            <a:srgbClr val="FFFFFF"/>
          </a:solidFill>
          <a:ln w="12700">
            <a:solidFill>
              <a:srgbClr val="BFBFBF"/>
            </a:solidFill>
            <a:prstDash val="solid"/>
          </a:ln>
        </p:spPr>
      </p:sp>
      <p:sp>
        <p:nvSpPr>
          <p:cNvPr id="6" name="Eyebrow"/>
          <p:cNvSpPr txBox="1"/>
          <p:nvPr/>
        </p:nvSpPr>
        <p:spPr>
          <a:xfrm>
            <a:off x="960120" y="2834640"/>
            <a:ext cx="5271516" cy="274320"/>
          </a:xfrm>
          <a:prstGeom prst="rect">
            <a:avLst/>
          </a:prstGeom>
          <a:noFill/>
          <a:ln/>
        </p:spPr>
        <p:txBody>
          <a:bodyPr wrap="square" lIns="0" tIns="0" rIns="0" bIns="0" rtlCol="0" anchor="ctr"/>
          <a:lstStyle/>
          <a:p>
            <a:pPr indent="0" marL="0">
              <a:buNone/>
            </a:pPr>
            <a:r>
              <a:rPr lang="en-US" sz="1100" b="1" spc="100" kern="0" dirty="0">
                <a:solidFill>
                  <a:srgbClr val="0063AF"/>
                </a:solidFill>
              </a:rPr>
              <a:t>IT IS NOT</a:t>
            </a:r>
            <a:endParaRPr lang="en-US" sz="1100" dirty="0"/>
          </a:p>
        </p:txBody>
      </p:sp>
      <p:sp>
        <p:nvSpPr>
          <p:cNvPr id="7" name="Text 4"/>
          <p:cNvSpPr txBox="1"/>
          <p:nvPr/>
        </p:nvSpPr>
        <p:spPr>
          <a:xfrm>
            <a:off x="960120" y="3291840"/>
            <a:ext cx="4631436" cy="2377440"/>
          </a:xfrm>
          <a:prstGeom prst="rect">
            <a:avLst/>
          </a:prstGeom>
          <a:noFill/>
          <a:ln/>
        </p:spPr>
        <p:txBody>
          <a:bodyPr wrap="square" lIns="0" tIns="0" rIns="0" bIns="0" rtlCol="0" anchor="t"/>
          <a:lstStyle/>
          <a:p>
            <a:pPr marL="228600" indent="-228600">
              <a:spcAft>
                <a:spcPts val="1200"/>
              </a:spcAft>
              <a:buSzPct val="100000"/>
              <a:buChar char="•"/>
            </a:pPr>
            <a:r>
              <a:rPr lang="en-US" sz="2400" dirty="0">
                <a:solidFill>
                  <a:schemeClr val="tx1"/>
                </a:solidFill>
              </a:rPr>
              <a:t>a listings site</a:t>
            </a:r>
            <a:endParaRPr lang="en-US" sz="2400" dirty="0"/>
          </a:p>
          <a:p>
            <a:pPr marL="228600" indent="-228600">
              <a:spcAft>
                <a:spcPts val="1200"/>
              </a:spcAft>
              <a:buSzPct val="100000"/>
              <a:buChar char="•"/>
            </a:pPr>
            <a:r>
              <a:rPr lang="en-US" sz="2400" dirty="0">
                <a:solidFill>
                  <a:schemeClr val="tx1"/>
                </a:solidFill>
              </a:rPr>
              <a:t>brokers or agents</a:t>
            </a:r>
            <a:endParaRPr lang="en-US" sz="2400" dirty="0"/>
          </a:p>
          <a:p>
            <a:pPr marL="228600" indent="-228600">
              <a:spcAft>
                <a:spcPts val="1200"/>
              </a:spcAft>
              <a:buSzPct val="100000"/>
              <a:buChar char="•"/>
            </a:pPr>
            <a:r>
              <a:rPr lang="en-US" sz="2400" dirty="0">
                <a:solidFill>
                  <a:schemeClr val="tx1"/>
                </a:solidFill>
              </a:rPr>
              <a:t>links to offers</a:t>
            </a:r>
            <a:endParaRPr lang="en-US" sz="2400" dirty="0"/>
          </a:p>
        </p:txBody>
      </p:sp>
      <p:sp>
        <p:nvSpPr>
          <p:cNvPr id="8" name="Card"/>
          <p:cNvSpPr/>
          <p:nvPr/>
        </p:nvSpPr>
        <p:spPr>
          <a:xfrm>
            <a:off x="6277356" y="2560320"/>
            <a:ext cx="5271516" cy="3383280"/>
          </a:xfrm>
          <a:prstGeom prst="roundRect">
            <a:avLst>
              <a:gd name="adj" fmla="val 4054"/>
            </a:avLst>
          </a:prstGeom>
          <a:solidFill>
            <a:srgbClr val="FFFFFF"/>
          </a:solidFill>
          <a:ln w="12700">
            <a:solidFill>
              <a:srgbClr val="BFBFBF"/>
            </a:solidFill>
            <a:prstDash val="solid"/>
          </a:ln>
        </p:spPr>
      </p:sp>
      <p:sp>
        <p:nvSpPr>
          <p:cNvPr id="9" name="Eyebrow"/>
          <p:cNvSpPr txBox="1"/>
          <p:nvPr/>
        </p:nvSpPr>
        <p:spPr>
          <a:xfrm>
            <a:off x="6597396" y="2834640"/>
            <a:ext cx="5271516" cy="274320"/>
          </a:xfrm>
          <a:prstGeom prst="rect">
            <a:avLst/>
          </a:prstGeom>
          <a:noFill/>
          <a:ln/>
        </p:spPr>
        <p:txBody>
          <a:bodyPr wrap="square" lIns="0" tIns="0" rIns="0" bIns="0" rtlCol="0" anchor="ctr"/>
          <a:lstStyle/>
          <a:p>
            <a:pPr indent="0" marL="0">
              <a:buNone/>
            </a:pPr>
            <a:r>
              <a:rPr lang="en-US" sz="1100" b="1" spc="100" kern="0" dirty="0">
                <a:solidFill>
                  <a:srgbClr val="0063AF"/>
                </a:solidFill>
              </a:rPr>
              <a:t>WHO IT IS FOR</a:t>
            </a:r>
            <a:endParaRPr lang="en-US" sz="1100" dirty="0"/>
          </a:p>
        </p:txBody>
      </p:sp>
      <p:sp>
        <p:nvSpPr>
          <p:cNvPr id="10" name="Text 7"/>
          <p:cNvSpPr txBox="1"/>
          <p:nvPr/>
        </p:nvSpPr>
        <p:spPr>
          <a:xfrm>
            <a:off x="6597396" y="3291840"/>
            <a:ext cx="4631436" cy="2377440"/>
          </a:xfrm>
          <a:prstGeom prst="rect">
            <a:avLst/>
          </a:prstGeom>
          <a:noFill/>
          <a:ln/>
        </p:spPr>
        <p:txBody>
          <a:bodyPr wrap="square" lIns="0" tIns="0" rIns="0" bIns="0" rtlCol="0" anchor="t"/>
          <a:lstStyle/>
          <a:p>
            <a:pPr indent="0" marL="0">
              <a:buNone/>
            </a:pPr>
            <a:r>
              <a:rPr lang="en-US" sz="2200" b="1" dirty="0">
                <a:solidFill>
                  <a:schemeClr val="tx1"/>
                </a:solidFill>
              </a:rPr>
              <a:t>Residents and newcomers: </a:t>
            </a:r>
            <a:pPr indent="0" marL="0">
              <a:buNone/>
            </a:pPr>
            <a:r>
              <a:rPr lang="en-US" sz="2200" dirty="0">
                <a:solidFill>
                  <a:schemeClr val="tx1"/>
                </a:solidFill>
              </a:rPr>
              <a:t>singles, couples, families, seniors, students.</a:t>
            </a:r>
            <a:endParaRPr lang="en-US" sz="2200" dirty="0"/>
          </a:p>
          <a:p>
            <a:pPr indent="0" marL="0">
              <a:buNone/>
            </a:pPr>
            <a:r>
              <a:rPr lang="en-US" sz="1000" dirty="0">
                <a:solidFill>
                  <a:schemeClr val="tx1"/>
                </a:solidFill>
              </a:rPr>
              <a:t> </a:t>
            </a:r>
            <a:endParaRPr lang="en-US" sz="2200" dirty="0"/>
          </a:p>
          <a:p>
            <a:pPr indent="0" marL="0">
              <a:buNone/>
            </a:pPr>
            <a:r>
              <a:rPr lang="en-US" sz="2200" b="1" dirty="0">
                <a:solidFill>
                  <a:schemeClr val="tx1"/>
                </a:solidFill>
              </a:rPr>
              <a:t>The city: </a:t>
            </a:r>
            <a:pPr indent="0" marL="0">
              <a:buNone/>
            </a:pPr>
            <a:r>
              <a:rPr lang="en-US" sz="2200" dirty="0">
                <a:solidFill>
                  <a:schemeClr val="tx1"/>
                </a:solidFill>
              </a:rPr>
              <a:t>as host and owner.</a:t>
            </a:r>
            <a:endParaRPr lang="en-US" sz="2200" dirty="0"/>
          </a:p>
        </p:txBody>
      </p:sp>
      <p:sp>
        <p:nvSpPr>
          <p:cNvPr id="25" name="Slide Number Placeholder 0"/>
          <p:cNvSpPr>
            <a:spLocks noGrp="1"/>
          </p:cNvSpPr>
          <p:nvPr>
            <p:ph type="sldNum" sz="quarter" idx="4294967295"/>
          </p:nvPr>
        </p:nvSpPr>
        <p:spPr>
          <a:xfrm>
            <a:off x="11000232" y="27432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Eyebrow"/>
          <p:cNvSpPr txBox="1"/>
          <p:nvPr/>
        </p:nvSpPr>
        <p:spPr>
          <a:xfrm>
            <a:off x="640080" y="274320"/>
            <a:ext cx="5486400" cy="274320"/>
          </a:xfrm>
          <a:prstGeom prst="rect">
            <a:avLst/>
          </a:prstGeom>
          <a:noFill/>
          <a:ln/>
        </p:spPr>
        <p:txBody>
          <a:bodyPr wrap="square" lIns="0" tIns="0" rIns="0" bIns="0" rtlCol="0" anchor="ctr"/>
          <a:lstStyle/>
          <a:p>
            <a:pPr indent="0" marL="0">
              <a:buNone/>
            </a:pPr>
            <a:r>
              <a:rPr lang="en-US" sz="1100" b="1" spc="100" kern="0" dirty="0">
                <a:solidFill>
                  <a:srgbClr val="B5D3EE"/>
                </a:solidFill>
              </a:rPr>
              <a:t>SMART CITY</a:t>
            </a:r>
            <a:endParaRPr lang="en-US" sz="1100" dirty="0"/>
          </a:p>
        </p:txBody>
      </p:sp>
      <p:sp>
        <p:nvSpPr>
          <p:cNvPr id="4" name="Text 0"/>
          <p:cNvSpPr/>
          <p:nvPr>
            <p:ph idx="100" type="title" hasCustomPrompt="1"/>
          </p:nvPr>
        </p:nvSpPr>
        <p:spPr>
          <a:xfrm>
            <a:off x="640080" y="502920"/>
            <a:ext cx="10360152" cy="1143000"/>
          </a:xfrm>
          <a:prstGeom prst="rect">
            <a:avLst/>
          </a:prstGeom>
          <a:noFill/>
          <a:ln/>
        </p:spPr>
        <p:txBody>
          <a:bodyPr wrap="square" lIns="0" tIns="0" rIns="0" bIns="0" rtlCol="0" anchor="t"/>
          <a:lstStyle/>
          <a:p>
            <a:pPr indent="0" marL="0">
              <a:buNone/>
            </a:pPr>
            <a:r>
              <a:rPr lang="en-US" sz="3600" b="1" dirty="0">
                <a:solidFill>
                  <a:schemeClr val="bg1"/>
                </a:solidFill>
              </a:rPr>
              <a:t>A public service, not a product. The city is the natural owner</a:t>
            </a:r>
            <a:endParaRPr lang="en-US" sz="3600" dirty="0"/>
          </a:p>
        </p:txBody>
      </p:sp>
      <p:sp>
        <p:nvSpPr>
          <p:cNvPr id="5" name="Icon circle"/>
          <p:cNvSpPr/>
          <p:nvPr/>
        </p:nvSpPr>
        <p:spPr>
          <a:xfrm>
            <a:off x="640080" y="2743200"/>
            <a:ext cx="731520" cy="731520"/>
          </a:xfrm>
          <a:prstGeom prst="ellipse">
            <a:avLst/>
          </a:prstGeom>
          <a:solidFill>
            <a:srgbClr val="0063AF"/>
          </a:solidFill>
          <a:ln/>
        </p:spPr>
      </p:sp>
      <p:pic>
        <p:nvPicPr>
          <p:cNvPr id="6" name="Image 0" descr="preencoded.png">    </p:cNvPr>
          <p:cNvPicPr>
            <a:picLocks noChangeAspect="1"/>
          </p:cNvPicPr>
          <p:nvPr/>
        </p:nvPicPr>
        <p:blipFill>
          <a:blip r:embed="rId1"/>
          <a:stretch>
            <a:fillRect/>
          </a:stretch>
        </p:blipFill>
        <p:spPr>
          <a:xfrm>
            <a:off x="822960" y="2926080"/>
            <a:ext cx="365760" cy="365760"/>
          </a:xfrm>
          <a:prstGeom prst="rect">
            <a:avLst/>
          </a:prstGeom>
        </p:spPr>
      </p:pic>
      <p:sp>
        <p:nvSpPr>
          <p:cNvPr id="7" name="Text 3"/>
          <p:cNvSpPr txBox="1"/>
          <p:nvPr/>
        </p:nvSpPr>
        <p:spPr>
          <a:xfrm>
            <a:off x="1600200" y="2651760"/>
            <a:ext cx="4219956" cy="914400"/>
          </a:xfrm>
          <a:prstGeom prst="rect">
            <a:avLst/>
          </a:prstGeom>
          <a:noFill/>
          <a:ln/>
        </p:spPr>
        <p:txBody>
          <a:bodyPr wrap="square" lIns="0" tIns="0" rIns="0" bIns="0" rtlCol="0" anchor="ctr"/>
          <a:lstStyle/>
          <a:p>
            <a:pPr indent="0" marL="0">
              <a:buNone/>
            </a:pPr>
            <a:r>
              <a:rPr lang="en-US" sz="2000" b="1" dirty="0">
                <a:solidFill>
                  <a:schemeClr val="bg1"/>
                </a:solidFill>
              </a:rPr>
              <a:t>Free, no login</a:t>
            </a:r>
            <a:endParaRPr lang="en-US" sz="2000" dirty="0"/>
          </a:p>
          <a:p>
            <a:pPr indent="0" marL="0">
              <a:buNone/>
            </a:pPr>
            <a:r>
              <a:rPr lang="en-US" sz="1500" dirty="0">
                <a:solidFill>
                  <a:srgbClr val="E5F0FA"/>
                </a:solidFill>
              </a:rPr>
              <a:t>open to every resident</a:t>
            </a:r>
            <a:endParaRPr lang="en-US" sz="2000" dirty="0"/>
          </a:p>
        </p:txBody>
      </p:sp>
      <p:sp>
        <p:nvSpPr>
          <p:cNvPr id="8" name="Icon circle"/>
          <p:cNvSpPr/>
          <p:nvPr/>
        </p:nvSpPr>
        <p:spPr>
          <a:xfrm>
            <a:off x="6185916" y="2743200"/>
            <a:ext cx="731520" cy="731520"/>
          </a:xfrm>
          <a:prstGeom prst="ellipse">
            <a:avLst/>
          </a:prstGeom>
          <a:solidFill>
            <a:srgbClr val="0063AF"/>
          </a:solidFill>
          <a:ln/>
        </p:spPr>
      </p:sp>
      <p:pic>
        <p:nvPicPr>
          <p:cNvPr id="9" name="Image 1" descr="preencoded.png">    </p:cNvPr>
          <p:cNvPicPr>
            <a:picLocks noChangeAspect="1"/>
          </p:cNvPicPr>
          <p:nvPr/>
        </p:nvPicPr>
        <p:blipFill>
          <a:blip r:embed="rId2"/>
          <a:stretch>
            <a:fillRect/>
          </a:stretch>
        </p:blipFill>
        <p:spPr>
          <a:xfrm>
            <a:off x="6368796" y="2926080"/>
            <a:ext cx="365760" cy="365760"/>
          </a:xfrm>
          <a:prstGeom prst="rect">
            <a:avLst/>
          </a:prstGeom>
        </p:spPr>
      </p:pic>
      <p:sp>
        <p:nvSpPr>
          <p:cNvPr id="10" name="Text 5"/>
          <p:cNvSpPr txBox="1"/>
          <p:nvPr/>
        </p:nvSpPr>
        <p:spPr>
          <a:xfrm>
            <a:off x="7146036" y="2651760"/>
            <a:ext cx="4219956" cy="914400"/>
          </a:xfrm>
          <a:prstGeom prst="rect">
            <a:avLst/>
          </a:prstGeom>
          <a:noFill/>
          <a:ln/>
        </p:spPr>
        <p:txBody>
          <a:bodyPr wrap="square" lIns="0" tIns="0" rIns="0" bIns="0" rtlCol="0" anchor="ctr"/>
          <a:lstStyle/>
          <a:p>
            <a:pPr indent="0" marL="0">
              <a:buNone/>
            </a:pPr>
            <a:r>
              <a:rPr lang="en-US" sz="2000" b="1" dirty="0">
                <a:solidFill>
                  <a:schemeClr val="bg1"/>
                </a:solidFill>
              </a:rPr>
              <a:t>Holds official records</a:t>
            </a:r>
            <a:endParaRPr lang="en-US" sz="2000" dirty="0"/>
          </a:p>
          <a:p>
            <a:pPr indent="0" marL="0">
              <a:buNone/>
            </a:pPr>
            <a:r>
              <a:rPr lang="en-US" sz="1500" dirty="0">
                <a:solidFill>
                  <a:srgbClr val="E5F0FA"/>
                </a:solidFill>
              </a:rPr>
              <a:t>city and national open data</a:t>
            </a:r>
            <a:endParaRPr lang="en-US" sz="2000" dirty="0"/>
          </a:p>
        </p:txBody>
      </p:sp>
      <p:sp>
        <p:nvSpPr>
          <p:cNvPr id="11" name="Icon circle"/>
          <p:cNvSpPr/>
          <p:nvPr/>
        </p:nvSpPr>
        <p:spPr>
          <a:xfrm>
            <a:off x="640080" y="4297680"/>
            <a:ext cx="731520" cy="731520"/>
          </a:xfrm>
          <a:prstGeom prst="ellipse">
            <a:avLst/>
          </a:prstGeom>
          <a:solidFill>
            <a:srgbClr val="0063AF"/>
          </a:solidFill>
          <a:ln/>
        </p:spPr>
      </p:sp>
      <p:pic>
        <p:nvPicPr>
          <p:cNvPr id="12" name="Image 2" descr="preencoded.png">    </p:cNvPr>
          <p:cNvPicPr>
            <a:picLocks noChangeAspect="1"/>
          </p:cNvPicPr>
          <p:nvPr/>
        </p:nvPicPr>
        <p:blipFill>
          <a:blip r:embed="rId3"/>
          <a:stretch>
            <a:fillRect/>
          </a:stretch>
        </p:blipFill>
        <p:spPr>
          <a:xfrm>
            <a:off x="822960" y="4480560"/>
            <a:ext cx="365760" cy="365760"/>
          </a:xfrm>
          <a:prstGeom prst="rect">
            <a:avLst/>
          </a:prstGeom>
        </p:spPr>
      </p:pic>
      <p:sp>
        <p:nvSpPr>
          <p:cNvPr id="13" name="Text 7"/>
          <p:cNvSpPr txBox="1"/>
          <p:nvPr/>
        </p:nvSpPr>
        <p:spPr>
          <a:xfrm>
            <a:off x="1600200" y="4206240"/>
            <a:ext cx="4219956" cy="914400"/>
          </a:xfrm>
          <a:prstGeom prst="rect">
            <a:avLst/>
          </a:prstGeom>
          <a:noFill/>
          <a:ln/>
        </p:spPr>
        <p:txBody>
          <a:bodyPr wrap="square" lIns="0" tIns="0" rIns="0" bIns="0" rtlCol="0" anchor="ctr"/>
          <a:lstStyle/>
          <a:p>
            <a:pPr indent="0" marL="0">
              <a:buNone/>
            </a:pPr>
            <a:r>
              <a:rPr lang="en-US" sz="2000" b="1" dirty="0">
                <a:solidFill>
                  <a:schemeClr val="bg1"/>
                </a:solidFill>
              </a:rPr>
              <a:t>Can publish notices</a:t>
            </a:r>
            <a:endParaRPr lang="en-US" sz="2000" dirty="0"/>
          </a:p>
          <a:p>
            <a:pPr indent="0" marL="0">
              <a:buNone/>
            </a:pPr>
            <a:r>
              <a:rPr lang="en-US" sz="1500" dirty="0">
                <a:solidFill>
                  <a:srgbClr val="E5F0FA"/>
                </a:solidFill>
              </a:rPr>
              <a:t>concept, after city approval</a:t>
            </a:r>
            <a:endParaRPr lang="en-US" sz="2000" dirty="0"/>
          </a:p>
        </p:txBody>
      </p:sp>
      <p:sp>
        <p:nvSpPr>
          <p:cNvPr id="14" name="Icon circle"/>
          <p:cNvSpPr/>
          <p:nvPr/>
        </p:nvSpPr>
        <p:spPr>
          <a:xfrm>
            <a:off x="6185916" y="4297680"/>
            <a:ext cx="731520" cy="731520"/>
          </a:xfrm>
          <a:prstGeom prst="ellipse">
            <a:avLst/>
          </a:prstGeom>
          <a:solidFill>
            <a:srgbClr val="0063AF"/>
          </a:solidFill>
          <a:ln/>
        </p:spPr>
      </p:sp>
      <p:pic>
        <p:nvPicPr>
          <p:cNvPr id="15" name="Image 3" descr="preencoded.png">    </p:cNvPr>
          <p:cNvPicPr>
            <a:picLocks noChangeAspect="1"/>
          </p:cNvPicPr>
          <p:nvPr/>
        </p:nvPicPr>
        <p:blipFill>
          <a:blip r:embed="rId4"/>
          <a:stretch>
            <a:fillRect/>
          </a:stretch>
        </p:blipFill>
        <p:spPr>
          <a:xfrm>
            <a:off x="6368796" y="4480560"/>
            <a:ext cx="365760" cy="365760"/>
          </a:xfrm>
          <a:prstGeom prst="rect">
            <a:avLst/>
          </a:prstGeom>
        </p:spPr>
      </p:pic>
      <p:sp>
        <p:nvSpPr>
          <p:cNvPr id="16" name="Text 9"/>
          <p:cNvSpPr txBox="1"/>
          <p:nvPr/>
        </p:nvSpPr>
        <p:spPr>
          <a:xfrm>
            <a:off x="7146036" y="4206240"/>
            <a:ext cx="4219956" cy="914400"/>
          </a:xfrm>
          <a:prstGeom prst="rect">
            <a:avLst/>
          </a:prstGeom>
          <a:noFill/>
          <a:ln/>
        </p:spPr>
        <p:txBody>
          <a:bodyPr wrap="square" lIns="0" tIns="0" rIns="0" bIns="0" rtlCol="0" anchor="ctr"/>
          <a:lstStyle/>
          <a:p>
            <a:pPr indent="0" marL="0">
              <a:buNone/>
            </a:pPr>
            <a:r>
              <a:rPr lang="en-US" sz="2000" b="1" dirty="0">
                <a:solidFill>
                  <a:schemeClr val="bg1"/>
                </a:solidFill>
              </a:rPr>
              <a:t>Can collect verified feedback</a:t>
            </a:r>
            <a:endParaRPr lang="en-US" sz="2000" dirty="0"/>
          </a:p>
          <a:p>
            <a:pPr indent="0" marL="0">
              <a:buNone/>
            </a:pPr>
            <a:r>
              <a:rPr lang="en-US" sz="1500" dirty="0">
                <a:solidFill>
                  <a:srgbClr val="E5F0FA"/>
                </a:solidFill>
              </a:rPr>
              <a:t>later, once identity checks exist</a:t>
            </a:r>
            <a:endParaRPr lang="en-US" sz="2000" dirty="0"/>
          </a:p>
        </p:txBody>
      </p:sp>
      <p:sp>
        <p:nvSpPr>
          <p:cNvPr id="25" name="Slide Number Placeholder 0"/>
          <p:cNvSpPr>
            <a:spLocks noGrp="1"/>
          </p:cNvSpPr>
          <p:nvPr>
            <p:ph type="sldNum" sz="quarter" idx="4294967295"/>
          </p:nvPr>
        </p:nvSpPr>
        <p:spPr>
          <a:xfrm>
            <a:off x="11000232" y="27432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2"/>
                </a:solidFill>
              </a:defRPr>
            </a:lvl1pPr>
          </a:lstStyle>
          <a:p>
            <a:pPr algn="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p:nvPr>
            <p:ph idx="100" type="title" hasCustomPrompt="1"/>
          </p:nvPr>
        </p:nvSpPr>
        <p:spPr>
          <a:xfrm>
            <a:off x="640080" y="502920"/>
            <a:ext cx="10360152" cy="1143000"/>
          </a:xfrm>
          <a:prstGeom prst="rect">
            <a:avLst/>
          </a:prstGeom>
          <a:noFill/>
          <a:ln/>
        </p:spPr>
        <p:txBody>
          <a:bodyPr wrap="square" lIns="0" tIns="0" rIns="0" bIns="0" rtlCol="0" anchor="t"/>
          <a:lstStyle/>
          <a:p>
            <a:pPr indent="0" marL="0">
              <a:buNone/>
            </a:pPr>
            <a:r>
              <a:rPr lang="en-US" sz="3600" b="1" dirty="0">
                <a:solidFill>
                  <a:schemeClr val="tx1"/>
                </a:solidFill>
              </a:rPr>
              <a:t>One livability score per district, tuned to what matters to you</a:t>
            </a:r>
            <a:endParaRPr lang="en-US" sz="3600" dirty="0"/>
          </a:p>
        </p:txBody>
      </p:sp>
      <p:sp>
        <p:nvSpPr>
          <p:cNvPr id="4" name="Text 1"/>
          <p:cNvSpPr txBox="1"/>
          <p:nvPr/>
        </p:nvSpPr>
        <p:spPr>
          <a:xfrm>
            <a:off x="640080" y="1783080"/>
            <a:ext cx="3453384" cy="1005840"/>
          </a:xfrm>
          <a:prstGeom prst="rect">
            <a:avLst/>
          </a:prstGeom>
          <a:noFill/>
          <a:ln/>
        </p:spPr>
        <p:txBody>
          <a:bodyPr wrap="square" lIns="0" tIns="0" rIns="0" bIns="0" rtlCol="0" anchor="ctr"/>
          <a:lstStyle/>
          <a:p>
            <a:pPr indent="0" marL="0">
              <a:buNone/>
            </a:pPr>
            <a:r>
              <a:rPr lang="en-US" sz="6600" b="1" dirty="0">
                <a:solidFill>
                  <a:schemeClr val="accent1"/>
                </a:solidFill>
              </a:rPr>
              <a:t>18</a:t>
            </a:r>
            <a:endParaRPr lang="en-US" sz="6600" dirty="0"/>
          </a:p>
        </p:txBody>
      </p:sp>
      <p:sp>
        <p:nvSpPr>
          <p:cNvPr id="5" name="Text 2"/>
          <p:cNvSpPr txBox="1"/>
          <p:nvPr/>
        </p:nvSpPr>
        <p:spPr>
          <a:xfrm>
            <a:off x="640080" y="2880360"/>
            <a:ext cx="3453384" cy="411480"/>
          </a:xfrm>
          <a:prstGeom prst="rect">
            <a:avLst/>
          </a:prstGeom>
          <a:noFill/>
          <a:ln/>
        </p:spPr>
        <p:txBody>
          <a:bodyPr wrap="square" lIns="0" tIns="0" rIns="0" bIns="0" rtlCol="0" anchor="ctr"/>
          <a:lstStyle/>
          <a:p>
            <a:pPr indent="0" marL="0">
              <a:buNone/>
            </a:pPr>
            <a:r>
              <a:rPr lang="en-US" sz="2000" b="1" dirty="0">
                <a:solidFill>
                  <a:schemeClr val="tx1"/>
                </a:solidFill>
              </a:rPr>
              <a:t>districts of Kraków</a:t>
            </a:r>
            <a:endParaRPr lang="en-US" sz="2000" dirty="0"/>
          </a:p>
        </p:txBody>
      </p:sp>
      <p:sp>
        <p:nvSpPr>
          <p:cNvPr id="6" name="Text 3"/>
          <p:cNvSpPr txBox="1"/>
          <p:nvPr/>
        </p:nvSpPr>
        <p:spPr>
          <a:xfrm>
            <a:off x="4367784" y="1783080"/>
            <a:ext cx="3453384" cy="1005840"/>
          </a:xfrm>
          <a:prstGeom prst="rect">
            <a:avLst/>
          </a:prstGeom>
          <a:noFill/>
          <a:ln/>
        </p:spPr>
        <p:txBody>
          <a:bodyPr wrap="square" lIns="0" tIns="0" rIns="0" bIns="0" rtlCol="0" anchor="ctr"/>
          <a:lstStyle/>
          <a:p>
            <a:pPr indent="0" marL="0">
              <a:buNone/>
            </a:pPr>
            <a:r>
              <a:rPr lang="en-US" sz="6600" b="1" dirty="0">
                <a:solidFill>
                  <a:schemeClr val="accent1"/>
                </a:solidFill>
              </a:rPr>
              <a:t>45</a:t>
            </a:r>
            <a:endParaRPr lang="en-US" sz="6600" dirty="0"/>
          </a:p>
        </p:txBody>
      </p:sp>
      <p:sp>
        <p:nvSpPr>
          <p:cNvPr id="7" name="Text 4"/>
          <p:cNvSpPr txBox="1"/>
          <p:nvPr/>
        </p:nvSpPr>
        <p:spPr>
          <a:xfrm>
            <a:off x="4367784" y="2880360"/>
            <a:ext cx="3453384" cy="411480"/>
          </a:xfrm>
          <a:prstGeom prst="rect">
            <a:avLst/>
          </a:prstGeom>
          <a:noFill/>
          <a:ln/>
        </p:spPr>
        <p:txBody>
          <a:bodyPr wrap="square" lIns="0" tIns="0" rIns="0" bIns="0" rtlCol="0" anchor="ctr"/>
          <a:lstStyle/>
          <a:p>
            <a:pPr indent="0" marL="0">
              <a:buNone/>
            </a:pPr>
            <a:r>
              <a:rPr lang="en-US" sz="2000" b="1" dirty="0">
                <a:solidFill>
                  <a:schemeClr val="tx1"/>
                </a:solidFill>
              </a:rPr>
              <a:t>metrics with data</a:t>
            </a:r>
            <a:endParaRPr lang="en-US" sz="2000" dirty="0"/>
          </a:p>
        </p:txBody>
      </p:sp>
      <p:sp>
        <p:nvSpPr>
          <p:cNvPr id="8" name="Text 5"/>
          <p:cNvSpPr txBox="1"/>
          <p:nvPr/>
        </p:nvSpPr>
        <p:spPr>
          <a:xfrm>
            <a:off x="8095488" y="1783080"/>
            <a:ext cx="3453384" cy="1005840"/>
          </a:xfrm>
          <a:prstGeom prst="rect">
            <a:avLst/>
          </a:prstGeom>
          <a:noFill/>
          <a:ln/>
        </p:spPr>
        <p:txBody>
          <a:bodyPr wrap="square" lIns="0" tIns="0" rIns="0" bIns="0" rtlCol="0" anchor="ctr"/>
          <a:lstStyle/>
          <a:p>
            <a:pPr indent="0" marL="0">
              <a:buNone/>
            </a:pPr>
            <a:r>
              <a:rPr lang="en-US" sz="6600" b="1" dirty="0">
                <a:solidFill>
                  <a:schemeClr val="accent1"/>
                </a:solidFill>
              </a:rPr>
              <a:t>7</a:t>
            </a:r>
            <a:endParaRPr lang="en-US" sz="6600" dirty="0"/>
          </a:p>
        </p:txBody>
      </p:sp>
      <p:sp>
        <p:nvSpPr>
          <p:cNvPr id="9" name="Text 6"/>
          <p:cNvSpPr txBox="1"/>
          <p:nvPr/>
        </p:nvSpPr>
        <p:spPr>
          <a:xfrm>
            <a:off x="8095488" y="2880360"/>
            <a:ext cx="3453384" cy="411480"/>
          </a:xfrm>
          <a:prstGeom prst="rect">
            <a:avLst/>
          </a:prstGeom>
          <a:noFill/>
          <a:ln/>
        </p:spPr>
        <p:txBody>
          <a:bodyPr wrap="square" lIns="0" tIns="0" rIns="0" bIns="0" rtlCol="0" anchor="ctr"/>
          <a:lstStyle/>
          <a:p>
            <a:pPr indent="0" marL="0">
              <a:buNone/>
            </a:pPr>
            <a:r>
              <a:rPr lang="en-US" sz="2000" b="1" dirty="0">
                <a:solidFill>
                  <a:schemeClr val="tx1"/>
                </a:solidFill>
              </a:rPr>
              <a:t>categories</a:t>
            </a:r>
            <a:endParaRPr lang="en-US" sz="2000" dirty="0"/>
          </a:p>
        </p:txBody>
      </p:sp>
      <p:sp>
        <p:nvSpPr>
          <p:cNvPr id="10" name="Card"/>
          <p:cNvSpPr/>
          <p:nvPr/>
        </p:nvSpPr>
        <p:spPr>
          <a:xfrm>
            <a:off x="640080" y="3474720"/>
            <a:ext cx="3300984" cy="1554480"/>
          </a:xfrm>
          <a:prstGeom prst="roundRect">
            <a:avLst>
              <a:gd name="adj" fmla="val 8824"/>
            </a:avLst>
          </a:prstGeom>
          <a:solidFill>
            <a:srgbClr val="FFFFFF"/>
          </a:solidFill>
          <a:ln w="12700">
            <a:solidFill>
              <a:srgbClr val="BFBFBF"/>
            </a:solidFill>
            <a:prstDash val="solid"/>
          </a:ln>
        </p:spPr>
      </p:sp>
      <p:sp>
        <p:nvSpPr>
          <p:cNvPr id="11" name="Eyebrow"/>
          <p:cNvSpPr txBox="1"/>
          <p:nvPr/>
        </p:nvSpPr>
        <p:spPr>
          <a:xfrm>
            <a:off x="868680" y="3657600"/>
            <a:ext cx="2843784" cy="274320"/>
          </a:xfrm>
          <a:prstGeom prst="rect">
            <a:avLst/>
          </a:prstGeom>
          <a:noFill/>
          <a:ln/>
        </p:spPr>
        <p:txBody>
          <a:bodyPr wrap="square" lIns="0" tIns="0" rIns="0" bIns="0" rtlCol="0" anchor="ctr"/>
          <a:lstStyle/>
          <a:p>
            <a:pPr indent="0" marL="0">
              <a:buNone/>
            </a:pPr>
            <a:r>
              <a:rPr lang="en-US" sz="1100" b="1" spc="100" kern="0" dirty="0">
                <a:solidFill>
                  <a:srgbClr val="0063AF"/>
                </a:solidFill>
              </a:rPr>
              <a:t>YOU CHOOSE</a:t>
            </a:r>
            <a:endParaRPr lang="en-US" sz="1100" dirty="0"/>
          </a:p>
        </p:txBody>
      </p:sp>
      <p:sp>
        <p:nvSpPr>
          <p:cNvPr id="12" name="Text 9"/>
          <p:cNvSpPr txBox="1"/>
          <p:nvPr/>
        </p:nvSpPr>
        <p:spPr>
          <a:xfrm>
            <a:off x="868680" y="3977640"/>
            <a:ext cx="2843784" cy="960120"/>
          </a:xfrm>
          <a:prstGeom prst="rect">
            <a:avLst/>
          </a:prstGeom>
          <a:noFill/>
          <a:ln/>
        </p:spPr>
        <p:txBody>
          <a:bodyPr wrap="square" lIns="0" tIns="0" rIns="0" bIns="0" rtlCol="0" anchor="t"/>
          <a:lstStyle/>
          <a:p>
            <a:pPr indent="0" marL="0">
              <a:buNone/>
            </a:pPr>
            <a:r>
              <a:rPr lang="en-US" sz="1800" b="1" dirty="0">
                <a:solidFill>
                  <a:schemeClr val="tx1"/>
                </a:solidFill>
              </a:rPr>
              <a:t>A persona preset, or your own weights</a:t>
            </a:r>
            <a:endParaRPr lang="en-US" sz="1800" dirty="0"/>
          </a:p>
        </p:txBody>
      </p:sp>
      <p:sp>
        <p:nvSpPr>
          <p:cNvPr id="13" name="Text 10"/>
          <p:cNvSpPr txBox="1"/>
          <p:nvPr/>
        </p:nvSpPr>
        <p:spPr>
          <a:xfrm>
            <a:off x="3941064" y="3931920"/>
            <a:ext cx="502920" cy="548640"/>
          </a:xfrm>
          <a:prstGeom prst="rect">
            <a:avLst/>
          </a:prstGeom>
          <a:noFill/>
          <a:ln/>
        </p:spPr>
        <p:txBody>
          <a:bodyPr wrap="square" lIns="0" tIns="0" rIns="0" bIns="0" rtlCol="0" anchor="ctr"/>
          <a:lstStyle/>
          <a:p>
            <a:pPr algn="ctr" indent="0" marL="0">
              <a:buNone/>
            </a:pPr>
            <a:r>
              <a:rPr lang="en-US" sz="2800" b="1" dirty="0">
                <a:solidFill>
                  <a:schemeClr val="accent1"/>
                </a:solidFill>
              </a:rPr>
              <a:t>→</a:t>
            </a:r>
            <a:endParaRPr lang="en-US" sz="2800" dirty="0"/>
          </a:p>
        </p:txBody>
      </p:sp>
      <p:sp>
        <p:nvSpPr>
          <p:cNvPr id="14" name="Card"/>
          <p:cNvSpPr/>
          <p:nvPr/>
        </p:nvSpPr>
        <p:spPr>
          <a:xfrm>
            <a:off x="4443984" y="3474720"/>
            <a:ext cx="3300984" cy="1554480"/>
          </a:xfrm>
          <a:prstGeom prst="roundRect">
            <a:avLst>
              <a:gd name="adj" fmla="val 8824"/>
            </a:avLst>
          </a:prstGeom>
          <a:solidFill>
            <a:srgbClr val="FFFFFF"/>
          </a:solidFill>
          <a:ln w="12700">
            <a:solidFill>
              <a:srgbClr val="BFBFBF"/>
            </a:solidFill>
            <a:prstDash val="solid"/>
          </a:ln>
        </p:spPr>
      </p:sp>
      <p:sp>
        <p:nvSpPr>
          <p:cNvPr id="15" name="Eyebrow"/>
          <p:cNvSpPr txBox="1"/>
          <p:nvPr/>
        </p:nvSpPr>
        <p:spPr>
          <a:xfrm>
            <a:off x="4672584" y="3657600"/>
            <a:ext cx="2843784" cy="274320"/>
          </a:xfrm>
          <a:prstGeom prst="rect">
            <a:avLst/>
          </a:prstGeom>
          <a:noFill/>
          <a:ln/>
        </p:spPr>
        <p:txBody>
          <a:bodyPr wrap="square" lIns="0" tIns="0" rIns="0" bIns="0" rtlCol="0" anchor="ctr"/>
          <a:lstStyle/>
          <a:p>
            <a:pPr indent="0" marL="0">
              <a:buNone/>
            </a:pPr>
            <a:r>
              <a:rPr lang="en-US" sz="1100" b="1" spc="100" kern="0" dirty="0">
                <a:solidFill>
                  <a:srgbClr val="0063AF"/>
                </a:solidFill>
              </a:rPr>
              <a:t>CODE COMPUTES</a:t>
            </a:r>
            <a:endParaRPr lang="en-US" sz="1100" dirty="0"/>
          </a:p>
        </p:txBody>
      </p:sp>
      <p:sp>
        <p:nvSpPr>
          <p:cNvPr id="16" name="Text 13"/>
          <p:cNvSpPr txBox="1"/>
          <p:nvPr/>
        </p:nvSpPr>
        <p:spPr>
          <a:xfrm>
            <a:off x="4672584" y="3977640"/>
            <a:ext cx="2843784" cy="960120"/>
          </a:xfrm>
          <a:prstGeom prst="rect">
            <a:avLst/>
          </a:prstGeom>
          <a:noFill/>
          <a:ln/>
        </p:spPr>
        <p:txBody>
          <a:bodyPr wrap="square" lIns="0" tIns="0" rIns="0" bIns="0" rtlCol="0" anchor="t"/>
          <a:lstStyle/>
          <a:p>
            <a:pPr indent="0" marL="0">
              <a:buNone/>
            </a:pPr>
            <a:r>
              <a:rPr lang="en-US" sz="1800" b="1" dirty="0">
                <a:solidFill>
                  <a:schemeClr val="tx1"/>
                </a:solidFill>
              </a:rPr>
              <a:t>Percentile ranks, weighted</a:t>
            </a:r>
            <a:endParaRPr lang="en-US" sz="1800" dirty="0"/>
          </a:p>
        </p:txBody>
      </p:sp>
      <p:sp>
        <p:nvSpPr>
          <p:cNvPr id="17" name="Text 14"/>
          <p:cNvSpPr txBox="1"/>
          <p:nvPr/>
        </p:nvSpPr>
        <p:spPr>
          <a:xfrm>
            <a:off x="7744968" y="3931920"/>
            <a:ext cx="502920" cy="548640"/>
          </a:xfrm>
          <a:prstGeom prst="rect">
            <a:avLst/>
          </a:prstGeom>
          <a:noFill/>
          <a:ln/>
        </p:spPr>
        <p:txBody>
          <a:bodyPr wrap="square" lIns="0" tIns="0" rIns="0" bIns="0" rtlCol="0" anchor="ctr"/>
          <a:lstStyle/>
          <a:p>
            <a:pPr algn="ctr" indent="0" marL="0">
              <a:buNone/>
            </a:pPr>
            <a:r>
              <a:rPr lang="en-US" sz="2800" b="1" dirty="0">
                <a:solidFill>
                  <a:schemeClr val="accent1"/>
                </a:solidFill>
              </a:rPr>
              <a:t>→</a:t>
            </a:r>
            <a:endParaRPr lang="en-US" sz="2800" dirty="0"/>
          </a:p>
        </p:txBody>
      </p:sp>
      <p:sp>
        <p:nvSpPr>
          <p:cNvPr id="18" name="Card"/>
          <p:cNvSpPr/>
          <p:nvPr/>
        </p:nvSpPr>
        <p:spPr>
          <a:xfrm>
            <a:off x="8247888" y="3474720"/>
            <a:ext cx="3300984" cy="1554480"/>
          </a:xfrm>
          <a:prstGeom prst="roundRect">
            <a:avLst>
              <a:gd name="adj" fmla="val 8824"/>
            </a:avLst>
          </a:prstGeom>
          <a:solidFill>
            <a:srgbClr val="FFFFFF"/>
          </a:solidFill>
          <a:ln w="12700">
            <a:solidFill>
              <a:srgbClr val="BFBFBF"/>
            </a:solidFill>
            <a:prstDash val="solid"/>
          </a:ln>
        </p:spPr>
      </p:sp>
      <p:sp>
        <p:nvSpPr>
          <p:cNvPr id="19" name="Eyebrow"/>
          <p:cNvSpPr txBox="1"/>
          <p:nvPr/>
        </p:nvSpPr>
        <p:spPr>
          <a:xfrm>
            <a:off x="8476488" y="3657600"/>
            <a:ext cx="2843784" cy="274320"/>
          </a:xfrm>
          <a:prstGeom prst="rect">
            <a:avLst/>
          </a:prstGeom>
          <a:noFill/>
          <a:ln/>
        </p:spPr>
        <p:txBody>
          <a:bodyPr wrap="square" lIns="0" tIns="0" rIns="0" bIns="0" rtlCol="0" anchor="ctr"/>
          <a:lstStyle/>
          <a:p>
            <a:pPr indent="0" marL="0">
              <a:buNone/>
            </a:pPr>
            <a:r>
              <a:rPr lang="en-US" sz="1100" b="1" spc="100" kern="0" dirty="0">
                <a:solidFill>
                  <a:srgbClr val="0063AF"/>
                </a:solidFill>
              </a:rPr>
              <a:t>YOU GET</a:t>
            </a:r>
            <a:endParaRPr lang="en-US" sz="1100" dirty="0"/>
          </a:p>
        </p:txBody>
      </p:sp>
      <p:sp>
        <p:nvSpPr>
          <p:cNvPr id="20" name="Text 17"/>
          <p:cNvSpPr txBox="1"/>
          <p:nvPr/>
        </p:nvSpPr>
        <p:spPr>
          <a:xfrm>
            <a:off x="8476488" y="3977640"/>
            <a:ext cx="2843784" cy="960120"/>
          </a:xfrm>
          <a:prstGeom prst="rect">
            <a:avLst/>
          </a:prstGeom>
          <a:noFill/>
          <a:ln/>
        </p:spPr>
        <p:txBody>
          <a:bodyPr wrap="square" lIns="0" tIns="0" rIns="0" bIns="0" rtlCol="0" anchor="t"/>
          <a:lstStyle/>
          <a:p>
            <a:pPr indent="0" marL="0">
              <a:buNone/>
            </a:pPr>
            <a:r>
              <a:rPr lang="en-US" sz="1800" b="1" dirty="0">
                <a:solidFill>
                  <a:schemeClr val="tx1"/>
                </a:solidFill>
              </a:rPr>
              <a:t>Ranked districts and the metrics behind them</a:t>
            </a:r>
            <a:endParaRPr lang="en-US" sz="1800" dirty="0"/>
          </a:p>
        </p:txBody>
      </p:sp>
      <p:sp>
        <p:nvSpPr>
          <p:cNvPr id="21" name="Callout"/>
          <p:cNvSpPr/>
          <p:nvPr/>
        </p:nvSpPr>
        <p:spPr>
          <a:xfrm>
            <a:off x="640080" y="5440680"/>
            <a:ext cx="10908792" cy="731520"/>
          </a:xfrm>
          <a:prstGeom prst="roundRect">
            <a:avLst>
              <a:gd name="adj" fmla="val 15000"/>
            </a:avLst>
          </a:prstGeom>
          <a:solidFill>
            <a:srgbClr val="B5D3EE"/>
          </a:solidFill>
          <a:ln/>
        </p:spPr>
      </p:sp>
      <p:pic>
        <p:nvPicPr>
          <p:cNvPr id="22" name="Image 0" descr="preencoded.png">    </p:cNvPr>
          <p:cNvPicPr>
            <a:picLocks noChangeAspect="1"/>
          </p:cNvPicPr>
          <p:nvPr/>
        </p:nvPicPr>
        <p:blipFill>
          <a:blip r:embed="rId1"/>
          <a:stretch>
            <a:fillRect/>
          </a:stretch>
        </p:blipFill>
        <p:spPr>
          <a:xfrm>
            <a:off x="914400" y="5641848"/>
            <a:ext cx="329184" cy="329184"/>
          </a:xfrm>
          <a:prstGeom prst="rect">
            <a:avLst/>
          </a:prstGeom>
        </p:spPr>
      </p:pic>
      <p:sp>
        <p:nvSpPr>
          <p:cNvPr id="23" name="Text 19"/>
          <p:cNvSpPr txBox="1"/>
          <p:nvPr/>
        </p:nvSpPr>
        <p:spPr>
          <a:xfrm>
            <a:off x="1417320" y="5440680"/>
            <a:ext cx="9902952" cy="731520"/>
          </a:xfrm>
          <a:prstGeom prst="rect">
            <a:avLst/>
          </a:prstGeom>
          <a:noFill/>
          <a:ln/>
        </p:spPr>
        <p:txBody>
          <a:bodyPr wrap="square" lIns="0" tIns="0" rIns="0" bIns="0" rtlCol="0" anchor="ctr"/>
          <a:lstStyle/>
          <a:p>
            <a:pPr indent="0" marL="0">
              <a:buNone/>
            </a:pPr>
            <a:r>
              <a:rPr lang="en-US" sz="2400" b="1" dirty="0">
                <a:solidFill>
                  <a:schemeClr val="tx2"/>
                </a:solidFill>
              </a:rPr>
              <a:t>The score is computed in code. AI never computes it.</a:t>
            </a:r>
            <a:endParaRPr lang="en-US" sz="2400" dirty="0"/>
          </a:p>
        </p:txBody>
      </p:sp>
      <p:sp>
        <p:nvSpPr>
          <p:cNvPr id="25" name="Slide Number Placeholder 0"/>
          <p:cNvSpPr>
            <a:spLocks noGrp="1"/>
          </p:cNvSpPr>
          <p:nvPr>
            <p:ph type="sldNum" sz="quarter" idx="4294967295"/>
          </p:nvPr>
        </p:nvSpPr>
        <p:spPr>
          <a:xfrm>
            <a:off x="11000232" y="27432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0"/>
          <p:cNvSpPr/>
          <p:nvPr>
            <p:ph idx="100" type="title" hasCustomPrompt="1"/>
          </p:nvPr>
        </p:nvSpPr>
        <p:spPr>
          <a:xfrm>
            <a:off x="640080" y="502920"/>
            <a:ext cx="10360152" cy="1143000"/>
          </a:xfrm>
          <a:prstGeom prst="rect">
            <a:avLst/>
          </a:prstGeom>
          <a:noFill/>
          <a:ln/>
        </p:spPr>
        <p:txBody>
          <a:bodyPr wrap="square" lIns="0" tIns="0" rIns="0" bIns="0" rtlCol="0" anchor="t"/>
          <a:lstStyle/>
          <a:p>
            <a:pPr indent="0" marL="0">
              <a:buNone/>
            </a:pPr>
            <a:r>
              <a:rPr lang="en-US" sz="3600" b="1" dirty="0">
                <a:solidFill>
                  <a:schemeClr val="tx1"/>
                </a:solidFill>
              </a:rPr>
              <a:t>Every number shows its trail. And we say what we cannot know</a:t>
            </a:r>
            <a:endParaRPr lang="en-US" sz="3600" dirty="0"/>
          </a:p>
        </p:txBody>
      </p:sp>
      <p:sp>
        <p:nvSpPr>
          <p:cNvPr id="4" name="Text 1"/>
          <p:cNvSpPr txBox="1"/>
          <p:nvPr/>
        </p:nvSpPr>
        <p:spPr>
          <a:xfrm>
            <a:off x="640080" y="1920240"/>
            <a:ext cx="4572000" cy="457200"/>
          </a:xfrm>
          <a:prstGeom prst="rect">
            <a:avLst/>
          </a:prstGeom>
          <a:noFill/>
          <a:ln/>
        </p:spPr>
        <p:txBody>
          <a:bodyPr wrap="square" lIns="0" tIns="0" rIns="0" bIns="0" rtlCol="0" anchor="ctr"/>
          <a:lstStyle/>
          <a:p>
            <a:pPr indent="0" marL="0">
              <a:buNone/>
            </a:pPr>
            <a:r>
              <a:rPr lang="en-US" sz="2400" b="1" dirty="0">
                <a:solidFill>
                  <a:schemeClr val="tx1"/>
                </a:solidFill>
              </a:rPr>
              <a:t>On every value</a:t>
            </a:r>
            <a:endParaRPr lang="en-US" sz="2400" dirty="0"/>
          </a:p>
        </p:txBody>
      </p:sp>
      <p:sp>
        <p:nvSpPr>
          <p:cNvPr id="5" name="Chip"/>
          <p:cNvSpPr/>
          <p:nvPr/>
        </p:nvSpPr>
        <p:spPr>
          <a:xfrm>
            <a:off x="640080" y="2560320"/>
            <a:ext cx="1371600" cy="384048"/>
          </a:xfrm>
          <a:prstGeom prst="roundRect">
            <a:avLst>
              <a:gd name="adj" fmla="val 50000"/>
            </a:avLst>
          </a:prstGeom>
          <a:solidFill>
            <a:schemeClr val="bg1"/>
          </a:solidFill>
          <a:ln w="12700">
            <a:solidFill>
              <a:srgbClr val="BFBFBF"/>
            </a:solidFill>
            <a:prstDash val="solid"/>
          </a:ln>
        </p:spPr>
      </p:sp>
      <p:sp>
        <p:nvSpPr>
          <p:cNvPr id="6" name="Shape 3"/>
          <p:cNvSpPr/>
          <p:nvPr/>
        </p:nvSpPr>
        <p:spPr>
          <a:xfrm>
            <a:off x="777240" y="2679192"/>
            <a:ext cx="146304" cy="146304"/>
          </a:xfrm>
          <a:prstGeom prst="ellipse">
            <a:avLst/>
          </a:prstGeom>
          <a:solidFill>
            <a:srgbClr val="21763C"/>
          </a:solidFill>
          <a:ln/>
        </p:spPr>
      </p:sp>
      <p:sp>
        <p:nvSpPr>
          <p:cNvPr id="7" name="Text 4"/>
          <p:cNvSpPr txBox="1"/>
          <p:nvPr/>
        </p:nvSpPr>
        <p:spPr>
          <a:xfrm>
            <a:off x="987552" y="2560320"/>
            <a:ext cx="960120" cy="384048"/>
          </a:xfrm>
          <a:prstGeom prst="rect">
            <a:avLst/>
          </a:prstGeom>
          <a:noFill/>
          <a:ln/>
        </p:spPr>
        <p:txBody>
          <a:bodyPr wrap="square" lIns="0" tIns="0" rIns="0" bIns="0" rtlCol="0" anchor="ctr"/>
          <a:lstStyle/>
          <a:p>
            <a:pPr indent="0" marL="0">
              <a:buNone/>
            </a:pPr>
            <a:r>
              <a:rPr lang="en-US" sz="1300" b="1" dirty="0">
                <a:solidFill>
                  <a:schemeClr val="tx1"/>
                </a:solidFill>
              </a:rPr>
              <a:t>observed</a:t>
            </a:r>
            <a:endParaRPr lang="en-US" sz="1300" dirty="0"/>
          </a:p>
        </p:txBody>
      </p:sp>
      <p:sp>
        <p:nvSpPr>
          <p:cNvPr id="8" name="Chip"/>
          <p:cNvSpPr/>
          <p:nvPr/>
        </p:nvSpPr>
        <p:spPr>
          <a:xfrm>
            <a:off x="2148840" y="2560320"/>
            <a:ext cx="1463040" cy="384048"/>
          </a:xfrm>
          <a:prstGeom prst="roundRect">
            <a:avLst>
              <a:gd name="adj" fmla="val 50000"/>
            </a:avLst>
          </a:prstGeom>
          <a:solidFill>
            <a:schemeClr val="bg1"/>
          </a:solidFill>
          <a:ln w="12700">
            <a:solidFill>
              <a:srgbClr val="BFBFBF"/>
            </a:solidFill>
            <a:prstDash val="solid"/>
          </a:ln>
        </p:spPr>
      </p:sp>
      <p:sp>
        <p:nvSpPr>
          <p:cNvPr id="9" name="Shape 6"/>
          <p:cNvSpPr/>
          <p:nvPr/>
        </p:nvSpPr>
        <p:spPr>
          <a:xfrm>
            <a:off x="2286000" y="2679192"/>
            <a:ext cx="146304" cy="146304"/>
          </a:xfrm>
          <a:prstGeom prst="ellipse">
            <a:avLst/>
          </a:prstGeom>
          <a:solidFill>
            <a:srgbClr val="AA6A00"/>
          </a:solidFill>
          <a:ln/>
        </p:spPr>
      </p:sp>
      <p:sp>
        <p:nvSpPr>
          <p:cNvPr id="10" name="Text 7"/>
          <p:cNvSpPr txBox="1"/>
          <p:nvPr/>
        </p:nvSpPr>
        <p:spPr>
          <a:xfrm>
            <a:off x="2496312" y="2560320"/>
            <a:ext cx="1051560" cy="384048"/>
          </a:xfrm>
          <a:prstGeom prst="rect">
            <a:avLst/>
          </a:prstGeom>
          <a:noFill/>
          <a:ln/>
        </p:spPr>
        <p:txBody>
          <a:bodyPr wrap="square" lIns="0" tIns="0" rIns="0" bIns="0" rtlCol="0" anchor="ctr"/>
          <a:lstStyle/>
          <a:p>
            <a:pPr indent="0" marL="0">
              <a:buNone/>
            </a:pPr>
            <a:r>
              <a:rPr lang="en-US" sz="1300" b="1" dirty="0">
                <a:solidFill>
                  <a:schemeClr val="tx1"/>
                </a:solidFill>
              </a:rPr>
              <a:t>estimated</a:t>
            </a:r>
            <a:endParaRPr lang="en-US" sz="1300" dirty="0"/>
          </a:p>
        </p:txBody>
      </p:sp>
      <p:sp>
        <p:nvSpPr>
          <p:cNvPr id="11" name="Chip"/>
          <p:cNvSpPr/>
          <p:nvPr/>
        </p:nvSpPr>
        <p:spPr>
          <a:xfrm>
            <a:off x="3749040" y="2560320"/>
            <a:ext cx="1097280" cy="384048"/>
          </a:xfrm>
          <a:prstGeom prst="roundRect">
            <a:avLst>
              <a:gd name="adj" fmla="val 50000"/>
            </a:avLst>
          </a:prstGeom>
          <a:solidFill>
            <a:schemeClr val="bg1"/>
          </a:solidFill>
          <a:ln w="12700">
            <a:solidFill>
              <a:srgbClr val="BFBFBF"/>
            </a:solidFill>
            <a:prstDash val="solid"/>
          </a:ln>
        </p:spPr>
      </p:sp>
      <p:sp>
        <p:nvSpPr>
          <p:cNvPr id="12" name="Shape 9"/>
          <p:cNvSpPr/>
          <p:nvPr/>
        </p:nvSpPr>
        <p:spPr>
          <a:xfrm>
            <a:off x="3886200" y="2679192"/>
            <a:ext cx="146304" cy="146304"/>
          </a:xfrm>
          <a:prstGeom prst="ellipse">
            <a:avLst/>
          </a:prstGeom>
          <a:solidFill>
            <a:srgbClr val="286CAB"/>
          </a:solidFill>
          <a:ln/>
        </p:spPr>
      </p:sp>
      <p:sp>
        <p:nvSpPr>
          <p:cNvPr id="13" name="Text 10"/>
          <p:cNvSpPr txBox="1"/>
          <p:nvPr/>
        </p:nvSpPr>
        <p:spPr>
          <a:xfrm>
            <a:off x="4096512" y="2560320"/>
            <a:ext cx="685800" cy="384048"/>
          </a:xfrm>
          <a:prstGeom prst="rect">
            <a:avLst/>
          </a:prstGeom>
          <a:noFill/>
          <a:ln/>
        </p:spPr>
        <p:txBody>
          <a:bodyPr wrap="square" lIns="0" tIns="0" rIns="0" bIns="0" rtlCol="0" anchor="ctr"/>
          <a:lstStyle/>
          <a:p>
            <a:pPr indent="0" marL="0">
              <a:buNone/>
            </a:pPr>
            <a:r>
              <a:rPr lang="en-US" sz="1300" b="1" dirty="0">
                <a:solidFill>
                  <a:schemeClr val="tx1"/>
                </a:solidFill>
              </a:rPr>
              <a:t>proxy</a:t>
            </a:r>
            <a:endParaRPr lang="en-US" sz="1300" dirty="0"/>
          </a:p>
        </p:txBody>
      </p:sp>
      <p:sp>
        <p:nvSpPr>
          <p:cNvPr id="14" name="Text 11"/>
          <p:cNvSpPr txBox="1"/>
          <p:nvPr/>
        </p:nvSpPr>
        <p:spPr>
          <a:xfrm>
            <a:off x="640080" y="3200400"/>
            <a:ext cx="4572000" cy="822960"/>
          </a:xfrm>
          <a:prstGeom prst="rect">
            <a:avLst/>
          </a:prstGeom>
          <a:noFill/>
          <a:ln/>
        </p:spPr>
        <p:txBody>
          <a:bodyPr wrap="square" lIns="0" tIns="0" rIns="0" bIns="0" rtlCol="0" anchor="t"/>
          <a:lstStyle/>
          <a:p>
            <a:pPr indent="0" marL="0">
              <a:buNone/>
            </a:pPr>
            <a:r>
              <a:rPr lang="en-US" sz="2000" b="1" dirty="0">
                <a:solidFill>
                  <a:schemeClr val="tx2"/>
                </a:solidFill>
              </a:rPr>
              <a:t>source · licence · date · method · caveat</a:t>
            </a:r>
            <a:endParaRPr lang="en-US" sz="2000" dirty="0"/>
          </a:p>
        </p:txBody>
      </p:sp>
      <p:sp>
        <p:nvSpPr>
          <p:cNvPr id="15" name="Text 12"/>
          <p:cNvSpPr txBox="1"/>
          <p:nvPr/>
        </p:nvSpPr>
        <p:spPr>
          <a:xfrm>
            <a:off x="640080" y="4114800"/>
            <a:ext cx="4572000" cy="731520"/>
          </a:xfrm>
          <a:prstGeom prst="rect">
            <a:avLst/>
          </a:prstGeom>
          <a:noFill/>
          <a:ln/>
        </p:spPr>
        <p:txBody>
          <a:bodyPr wrap="square" lIns="0" tIns="0" rIns="0" bIns="0" rtlCol="0" anchor="t"/>
          <a:lstStyle/>
          <a:p>
            <a:pPr indent="0" marL="0">
              <a:buNone/>
            </a:pPr>
            <a:r>
              <a:rPr lang="en-US" sz="1800" dirty="0">
                <a:solidFill>
                  <a:srgbClr val="505050"/>
                </a:solidFill>
              </a:rPr>
              <a:t>No data? The app says why. It shows no zero.</a:t>
            </a:r>
            <a:endParaRPr lang="en-US" sz="1800" dirty="0"/>
          </a:p>
        </p:txBody>
      </p:sp>
      <p:sp>
        <p:nvSpPr>
          <p:cNvPr id="16" name="Text 13"/>
          <p:cNvSpPr txBox="1"/>
          <p:nvPr/>
        </p:nvSpPr>
        <p:spPr>
          <a:xfrm>
            <a:off x="5852160" y="1920240"/>
            <a:ext cx="5696712" cy="457200"/>
          </a:xfrm>
          <a:prstGeom prst="rect">
            <a:avLst/>
          </a:prstGeom>
          <a:noFill/>
          <a:ln/>
        </p:spPr>
        <p:txBody>
          <a:bodyPr wrap="square" lIns="0" tIns="0" rIns="0" bIns="0" rtlCol="0" anchor="ctr"/>
          <a:lstStyle/>
          <a:p>
            <a:pPr indent="0" marL="0">
              <a:buNone/>
            </a:pPr>
            <a:r>
              <a:rPr lang="en-US" sz="2400" b="1" dirty="0">
                <a:solidFill>
                  <a:schemeClr val="tx1"/>
                </a:solidFill>
              </a:rPr>
              <a:t>Honest by design</a:t>
            </a:r>
            <a:endParaRPr lang="en-US" sz="2400" dirty="0"/>
          </a:p>
        </p:txBody>
      </p:sp>
      <p:sp>
        <p:nvSpPr>
          <p:cNvPr id="17" name="Text 14"/>
          <p:cNvSpPr txBox="1"/>
          <p:nvPr/>
        </p:nvSpPr>
        <p:spPr>
          <a:xfrm>
            <a:off x="5852160" y="2514600"/>
            <a:ext cx="5696712" cy="3657600"/>
          </a:xfrm>
          <a:prstGeom prst="rect">
            <a:avLst/>
          </a:prstGeom>
          <a:noFill/>
          <a:ln/>
        </p:spPr>
        <p:txBody>
          <a:bodyPr wrap="square" lIns="0" tIns="0" rIns="0" bIns="0" rtlCol="0" anchor="t"/>
          <a:lstStyle/>
          <a:p>
            <a:pPr marL="228600" indent="-228600">
              <a:spcAft>
                <a:spcPts val="1000"/>
              </a:spcAft>
              <a:buSzPct val="100000"/>
              <a:buChar char="•"/>
            </a:pPr>
            <a:r>
              <a:rPr lang="en-US" sz="1600" b="1" dirty="0">
                <a:solidFill>
                  <a:schemeClr val="tx1"/>
                </a:solidFill>
              </a:rPr>
              <a:t>District level, not address. </a:t>
            </a:r>
            <a:pPr indent="0" marL="0">
              <a:spcAft>
                <a:spcPts val="1000"/>
              </a:spcAft>
              <a:buNone/>
            </a:pPr>
            <a:r>
              <a:rPr lang="en-US" sz="1600" dirty="0">
                <a:solidFill>
                  <a:schemeClr val="tx1"/>
                </a:solidFill>
              </a:rPr>
              <a:t>An address score implies precision the data lacks.</a:t>
            </a:r>
            <a:endParaRPr lang="en-US" sz="1600" dirty="0"/>
          </a:p>
          <a:p>
            <a:pPr marL="228600" indent="-228600">
              <a:spcAft>
                <a:spcPts val="1000"/>
              </a:spcAft>
              <a:buSzPct val="100000"/>
              <a:buChar char="•"/>
            </a:pPr>
            <a:r>
              <a:rPr lang="en-US" sz="1600" b="1" dirty="0">
                <a:solidFill>
                  <a:schemeClr val="tx1"/>
                </a:solidFill>
              </a:rPr>
              <a:t>No price forecast. </a:t>
            </a:r>
            <a:pPr indent="0" marL="0">
              <a:spcAft>
                <a:spcPts val="1000"/>
              </a:spcAft>
              <a:buNone/>
            </a:pPr>
            <a:r>
              <a:rPr lang="en-US" sz="1600" dirty="0">
                <a:solidFill>
                  <a:schemeClr val="tx1"/>
                </a:solidFill>
              </a:rPr>
              <a:t>Two methods failed against naive baselines. We publish history and the backtest.</a:t>
            </a:r>
            <a:endParaRPr lang="en-US" sz="1600" dirty="0"/>
          </a:p>
          <a:p>
            <a:pPr marL="228600" indent="-228600">
              <a:spcAft>
                <a:spcPts val="1000"/>
              </a:spcAft>
              <a:buSzPct val="100000"/>
              <a:buChar char="•"/>
            </a:pPr>
            <a:r>
              <a:rPr lang="en-US" sz="1600" b="1" dirty="0">
                <a:solidFill>
                  <a:schemeClr val="tx1"/>
                </a:solidFill>
              </a:rPr>
              <a:t>“Recorded crimes per 10 000 residents.” </a:t>
            </a:r>
            <a:pPr indent="0" marL="0">
              <a:spcAft>
                <a:spcPts val="1000"/>
              </a:spcAft>
              <a:buNone/>
            </a:pPr>
            <a:r>
              <a:rPr lang="en-US" sz="1600" dirty="0">
                <a:solidFill>
                  <a:schemeClr val="tx1"/>
                </a:solidFill>
              </a:rPr>
              <a:t>Never “safe” or “dangerous”.</a:t>
            </a:r>
            <a:endParaRPr lang="en-US" sz="1600" dirty="0"/>
          </a:p>
          <a:p>
            <a:pPr marL="228600" indent="-228600">
              <a:spcAft>
                <a:spcPts val="1000"/>
              </a:spcAft>
              <a:buSzPct val="100000"/>
              <a:buChar char="•"/>
            </a:pPr>
            <a:r>
              <a:rPr lang="en-US" sz="1600" b="1" dirty="0">
                <a:solidFill>
                  <a:schemeClr val="tx1"/>
                </a:solidFill>
              </a:rPr>
              <a:t>Limits shown openly, </a:t>
            </a:r>
            <a:pPr indent="0" marL="0">
              <a:spcAft>
                <a:spcPts val="1000"/>
              </a:spcAft>
              <a:buNone/>
            </a:pPr>
            <a:r>
              <a:rPr lang="en-US" sz="1600" dirty="0">
                <a:solidFill>
                  <a:schemeClr val="tx1"/>
                </a:solidFill>
              </a:rPr>
              <a:t>in the app.</a:t>
            </a:r>
            <a:endParaRPr lang="en-US" sz="1600" dirty="0"/>
          </a:p>
        </p:txBody>
      </p:sp>
      <p:sp>
        <p:nvSpPr>
          <p:cNvPr id="25" name="Slide Number Placeholder 0"/>
          <p:cNvSpPr>
            <a:spLocks noGrp="1"/>
          </p:cNvSpPr>
          <p:nvPr>
            <p:ph type="sldNum" sz="quarter" idx="4294967295"/>
          </p:nvPr>
        </p:nvSpPr>
        <p:spPr>
          <a:xfrm>
            <a:off x="11000232" y="27432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0"/>
          <p:cNvSpPr/>
          <p:nvPr>
            <p:ph idx="100" type="title" hasCustomPrompt="1"/>
          </p:nvPr>
        </p:nvSpPr>
        <p:spPr>
          <a:xfrm>
            <a:off x="640080" y="502920"/>
            <a:ext cx="10360152" cy="1143000"/>
          </a:xfrm>
          <a:prstGeom prst="rect">
            <a:avLst/>
          </a:prstGeom>
          <a:noFill/>
          <a:ln/>
        </p:spPr>
        <p:txBody>
          <a:bodyPr wrap="square" lIns="0" tIns="0" rIns="0" bIns="0" rtlCol="0" anchor="t"/>
          <a:lstStyle/>
          <a:p>
            <a:pPr indent="0" marL="0">
              <a:buNone/>
            </a:pPr>
            <a:r>
              <a:rPr lang="en-US" sz="3600" b="1" dirty="0">
                <a:solidFill>
                  <a:schemeClr val="tx1"/>
                </a:solidFill>
              </a:rPr>
              <a:t>Real deeds, not asking prices</a:t>
            </a:r>
            <a:endParaRPr lang="en-US" sz="3600" dirty="0"/>
          </a:p>
        </p:txBody>
      </p:sp>
      <p:sp>
        <p:nvSpPr>
          <p:cNvPr id="4" name="Icon circle"/>
          <p:cNvSpPr/>
          <p:nvPr/>
        </p:nvSpPr>
        <p:spPr>
          <a:xfrm>
            <a:off x="640080" y="2103120"/>
            <a:ext cx="731520" cy="731520"/>
          </a:xfrm>
          <a:prstGeom prst="ellipse">
            <a:avLst/>
          </a:prstGeom>
          <a:solidFill>
            <a:srgbClr val="E5F0FA"/>
          </a:solidFill>
          <a:ln/>
        </p:spPr>
      </p:sp>
      <p:pic>
        <p:nvPicPr>
          <p:cNvPr id="5" name="Image 0" descr="preencoded.png">    </p:cNvPr>
          <p:cNvPicPr>
            <a:picLocks noChangeAspect="1"/>
          </p:cNvPicPr>
          <p:nvPr/>
        </p:nvPicPr>
        <p:blipFill>
          <a:blip r:embed="rId1"/>
          <a:stretch>
            <a:fillRect/>
          </a:stretch>
        </p:blipFill>
        <p:spPr>
          <a:xfrm>
            <a:off x="822960" y="2286000"/>
            <a:ext cx="365760" cy="365760"/>
          </a:xfrm>
          <a:prstGeom prst="rect">
            <a:avLst/>
          </a:prstGeom>
        </p:spPr>
      </p:pic>
      <p:sp>
        <p:nvSpPr>
          <p:cNvPr id="6" name="Text 2"/>
          <p:cNvSpPr txBox="1"/>
          <p:nvPr/>
        </p:nvSpPr>
        <p:spPr>
          <a:xfrm>
            <a:off x="1600200" y="2011680"/>
            <a:ext cx="4219956" cy="914400"/>
          </a:xfrm>
          <a:prstGeom prst="rect">
            <a:avLst/>
          </a:prstGeom>
          <a:noFill/>
          <a:ln/>
        </p:spPr>
        <p:txBody>
          <a:bodyPr wrap="square" lIns="0" tIns="0" rIns="0" bIns="0" rtlCol="0" anchor="ctr"/>
          <a:lstStyle/>
          <a:p>
            <a:pPr indent="0" marL="0">
              <a:buNone/>
            </a:pPr>
            <a:r>
              <a:rPr lang="en-US" sz="2000" b="1" dirty="0">
                <a:solidFill>
                  <a:schemeClr val="tx1"/>
                </a:solidFill>
              </a:rPr>
              <a:t>Sale prices from actual deeds</a:t>
            </a:r>
            <a:endParaRPr lang="en-US" sz="2000" dirty="0"/>
          </a:p>
          <a:p>
            <a:pPr indent="0" marL="0">
              <a:buNone/>
            </a:pPr>
            <a:r>
              <a:rPr lang="en-US" sz="1500" dirty="0">
                <a:solidFill>
                  <a:srgbClr val="505050"/>
                </a:solidFill>
              </a:rPr>
              <a:t>national price register, quarterly history</a:t>
            </a:r>
            <a:endParaRPr lang="en-US" sz="2000" dirty="0"/>
          </a:p>
        </p:txBody>
      </p:sp>
      <p:sp>
        <p:nvSpPr>
          <p:cNvPr id="7" name="Icon circle"/>
          <p:cNvSpPr/>
          <p:nvPr/>
        </p:nvSpPr>
        <p:spPr>
          <a:xfrm>
            <a:off x="6185916" y="2103120"/>
            <a:ext cx="731520" cy="731520"/>
          </a:xfrm>
          <a:prstGeom prst="ellipse">
            <a:avLst/>
          </a:prstGeom>
          <a:solidFill>
            <a:srgbClr val="E5F0FA"/>
          </a:solidFill>
          <a:ln/>
        </p:spPr>
      </p:sp>
      <p:pic>
        <p:nvPicPr>
          <p:cNvPr id="8" name="Image 1" descr="preencoded.png">    </p:cNvPr>
          <p:cNvPicPr>
            <a:picLocks noChangeAspect="1"/>
          </p:cNvPicPr>
          <p:nvPr/>
        </p:nvPicPr>
        <p:blipFill>
          <a:blip r:embed="rId2"/>
          <a:stretch>
            <a:fillRect/>
          </a:stretch>
        </p:blipFill>
        <p:spPr>
          <a:xfrm>
            <a:off x="6368796" y="2286000"/>
            <a:ext cx="365760" cy="365760"/>
          </a:xfrm>
          <a:prstGeom prst="rect">
            <a:avLst/>
          </a:prstGeom>
        </p:spPr>
      </p:pic>
      <p:sp>
        <p:nvSpPr>
          <p:cNvPr id="9" name="Text 4"/>
          <p:cNvSpPr txBox="1"/>
          <p:nvPr/>
        </p:nvSpPr>
        <p:spPr>
          <a:xfrm>
            <a:off x="7146036" y="2011680"/>
            <a:ext cx="4219956" cy="914400"/>
          </a:xfrm>
          <a:prstGeom prst="rect">
            <a:avLst/>
          </a:prstGeom>
          <a:noFill/>
          <a:ln/>
        </p:spPr>
        <p:txBody>
          <a:bodyPr wrap="square" lIns="0" tIns="0" rIns="0" bIns="0" rtlCol="0" anchor="ctr"/>
          <a:lstStyle/>
          <a:p>
            <a:pPr indent="0" marL="0">
              <a:buNone/>
            </a:pPr>
            <a:r>
              <a:rPr lang="en-US" sz="2000" b="1" dirty="0">
                <a:solidFill>
                  <a:schemeClr val="tx1"/>
                </a:solidFill>
              </a:rPr>
              <a:t>Commute matrix between districts</a:t>
            </a:r>
            <a:endParaRPr lang="en-US" sz="2000" dirty="0"/>
          </a:p>
          <a:p>
            <a:pPr indent="0" marL="0">
              <a:buNone/>
            </a:pPr>
            <a:r>
              <a:rPr lang="en-US" sz="1500" dirty="0">
                <a:solidFill>
                  <a:srgbClr val="505050"/>
                </a:solidFill>
              </a:rPr>
              <a:t>public transport, from timetables</a:t>
            </a:r>
            <a:endParaRPr lang="en-US" sz="2000" dirty="0"/>
          </a:p>
        </p:txBody>
      </p:sp>
      <p:sp>
        <p:nvSpPr>
          <p:cNvPr id="10" name="Icon circle"/>
          <p:cNvSpPr/>
          <p:nvPr/>
        </p:nvSpPr>
        <p:spPr>
          <a:xfrm>
            <a:off x="640080" y="3657600"/>
            <a:ext cx="731520" cy="731520"/>
          </a:xfrm>
          <a:prstGeom prst="ellipse">
            <a:avLst/>
          </a:prstGeom>
          <a:solidFill>
            <a:srgbClr val="E5F0FA"/>
          </a:solidFill>
          <a:ln/>
        </p:spPr>
      </p:sp>
      <p:pic>
        <p:nvPicPr>
          <p:cNvPr id="11" name="Image 2" descr="preencoded.png">    </p:cNvPr>
          <p:cNvPicPr>
            <a:picLocks noChangeAspect="1"/>
          </p:cNvPicPr>
          <p:nvPr/>
        </p:nvPicPr>
        <p:blipFill>
          <a:blip r:embed="rId3"/>
          <a:stretch>
            <a:fillRect/>
          </a:stretch>
        </p:blipFill>
        <p:spPr>
          <a:xfrm>
            <a:off x="822960" y="3840480"/>
            <a:ext cx="365760" cy="365760"/>
          </a:xfrm>
          <a:prstGeom prst="rect">
            <a:avLst/>
          </a:prstGeom>
        </p:spPr>
      </p:pic>
      <p:sp>
        <p:nvSpPr>
          <p:cNvPr id="12" name="Text 6"/>
          <p:cNvSpPr txBox="1"/>
          <p:nvPr/>
        </p:nvSpPr>
        <p:spPr>
          <a:xfrm>
            <a:off x="1600200" y="3566160"/>
            <a:ext cx="4219956" cy="914400"/>
          </a:xfrm>
          <a:prstGeom prst="rect">
            <a:avLst/>
          </a:prstGeom>
          <a:noFill/>
          <a:ln/>
        </p:spPr>
        <p:txBody>
          <a:bodyPr wrap="square" lIns="0" tIns="0" rIns="0" bIns="0" rtlCol="0" anchor="ctr"/>
          <a:lstStyle/>
          <a:p>
            <a:pPr indent="0" marL="0">
              <a:buNone/>
            </a:pPr>
            <a:r>
              <a:rPr lang="en-US" sz="2000" b="1" dirty="0">
                <a:solidFill>
                  <a:schemeClr val="tx1"/>
                </a:solidFill>
              </a:rPr>
              <a:t>Rent versus buy estimate</a:t>
            </a:r>
            <a:endParaRPr lang="en-US" sz="2000" dirty="0"/>
          </a:p>
          <a:p>
            <a:pPr indent="0" marL="0">
              <a:buNone/>
            </a:pPr>
            <a:r>
              <a:rPr lang="en-US" sz="1500" dirty="0">
                <a:solidFill>
                  <a:srgbClr val="505050"/>
                </a:solidFill>
              </a:rPr>
              <a:t>labelled as an estimate</a:t>
            </a:r>
            <a:endParaRPr lang="en-US" sz="2000" dirty="0"/>
          </a:p>
        </p:txBody>
      </p:sp>
      <p:sp>
        <p:nvSpPr>
          <p:cNvPr id="13" name="Icon circle"/>
          <p:cNvSpPr/>
          <p:nvPr/>
        </p:nvSpPr>
        <p:spPr>
          <a:xfrm>
            <a:off x="6185916" y="3657600"/>
            <a:ext cx="731520" cy="731520"/>
          </a:xfrm>
          <a:prstGeom prst="ellipse">
            <a:avLst/>
          </a:prstGeom>
          <a:solidFill>
            <a:srgbClr val="E5F0FA"/>
          </a:solidFill>
          <a:ln/>
        </p:spPr>
      </p:sp>
      <p:pic>
        <p:nvPicPr>
          <p:cNvPr id="14" name="Image 3" descr="preencoded.png">    </p:cNvPr>
          <p:cNvPicPr>
            <a:picLocks noChangeAspect="1"/>
          </p:cNvPicPr>
          <p:nvPr/>
        </p:nvPicPr>
        <p:blipFill>
          <a:blip r:embed="rId4"/>
          <a:stretch>
            <a:fillRect/>
          </a:stretch>
        </p:blipFill>
        <p:spPr>
          <a:xfrm>
            <a:off x="6368796" y="3840480"/>
            <a:ext cx="365760" cy="365760"/>
          </a:xfrm>
          <a:prstGeom prst="rect">
            <a:avLst/>
          </a:prstGeom>
        </p:spPr>
      </p:pic>
      <p:sp>
        <p:nvSpPr>
          <p:cNvPr id="15" name="Text 8"/>
          <p:cNvSpPr txBox="1"/>
          <p:nvPr/>
        </p:nvSpPr>
        <p:spPr>
          <a:xfrm>
            <a:off x="7146036" y="3566160"/>
            <a:ext cx="4219956" cy="914400"/>
          </a:xfrm>
          <a:prstGeom prst="rect">
            <a:avLst/>
          </a:prstGeom>
          <a:noFill/>
          <a:ln/>
        </p:spPr>
        <p:txBody>
          <a:bodyPr wrap="square" lIns="0" tIns="0" rIns="0" bIns="0" rtlCol="0" anchor="ctr"/>
          <a:lstStyle/>
          <a:p>
            <a:pPr indent="0" marL="0">
              <a:buNone/>
            </a:pPr>
            <a:r>
              <a:rPr lang="en-US" sz="2000" b="1" dirty="0">
                <a:solidFill>
                  <a:schemeClr val="tx1"/>
                </a:solidFill>
              </a:rPr>
              <a:t>Polish and English</a:t>
            </a:r>
            <a:endParaRPr lang="en-US" sz="2000" dirty="0"/>
          </a:p>
          <a:p>
            <a:pPr indent="0" marL="0">
              <a:buNone/>
            </a:pPr>
            <a:r>
              <a:rPr lang="en-US" sz="1500" dirty="0">
                <a:solidFill>
                  <a:srgbClr val="505050"/>
                </a:solidFill>
              </a:rPr>
              <a:t>Polish by default</a:t>
            </a:r>
            <a:endParaRPr lang="en-US" sz="2000" dirty="0"/>
          </a:p>
        </p:txBody>
      </p:sp>
      <p:sp>
        <p:nvSpPr>
          <p:cNvPr id="16" name="Text 9"/>
          <p:cNvSpPr txBox="1"/>
          <p:nvPr/>
        </p:nvSpPr>
        <p:spPr>
          <a:xfrm>
            <a:off x="640080" y="5486400"/>
            <a:ext cx="10908792" cy="640080"/>
          </a:xfrm>
          <a:prstGeom prst="rect">
            <a:avLst/>
          </a:prstGeom>
          <a:noFill/>
          <a:ln/>
        </p:spPr>
        <p:txBody>
          <a:bodyPr wrap="square" lIns="0" tIns="0" rIns="0" bIns="0" rtlCol="0" anchor="t"/>
          <a:lstStyle/>
          <a:p>
            <a:pPr indent="0" marL="0">
              <a:buNone/>
            </a:pPr>
            <a:r>
              <a:rPr lang="en-US" sz="1500" dirty="0">
                <a:solidFill>
                  <a:srgbClr val="505050"/>
                </a:solidFill>
              </a:rPr>
              <a:t>Rents are asking rents from a one-time snapshot, and long commutes run fast. Both carry their caveat in the app.</a:t>
            </a:r>
            <a:endParaRPr lang="en-US" sz="1500" dirty="0"/>
          </a:p>
        </p:txBody>
      </p:sp>
      <p:sp>
        <p:nvSpPr>
          <p:cNvPr id="25" name="Slide Number Placeholder 0"/>
          <p:cNvSpPr>
            <a:spLocks noGrp="1"/>
          </p:cNvSpPr>
          <p:nvPr>
            <p:ph type="sldNum" sz="quarter" idx="4294967295"/>
          </p:nvPr>
        </p:nvSpPr>
        <p:spPr>
          <a:xfrm>
            <a:off x="11000232" y="27432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p:nvPr>
            <p:ph idx="100" type="title" hasCustomPrompt="1"/>
          </p:nvPr>
        </p:nvSpPr>
        <p:spPr>
          <a:xfrm>
            <a:off x="640080" y="502920"/>
            <a:ext cx="10360152" cy="1143000"/>
          </a:xfrm>
          <a:prstGeom prst="rect">
            <a:avLst/>
          </a:prstGeom>
          <a:noFill/>
          <a:ln/>
        </p:spPr>
        <p:txBody>
          <a:bodyPr wrap="square" lIns="0" tIns="0" rIns="0" bIns="0" rtlCol="0" anchor="t"/>
          <a:lstStyle/>
          <a:p>
            <a:pPr indent="0" marL="0">
              <a:buNone/>
            </a:pPr>
            <a:r>
              <a:rPr lang="en-US" sz="3600" b="1" dirty="0">
                <a:solidFill>
                  <a:schemeClr val="bg1"/>
                </a:solidFill>
              </a:rPr>
              <a:t>AI writes the words. Code owns the numbers. Your data stays yours</a:t>
            </a:r>
            <a:endParaRPr lang="en-US" sz="3600" dirty="0"/>
          </a:p>
        </p:txBody>
      </p:sp>
      <p:pic>
        <p:nvPicPr>
          <p:cNvPr id="4" name="Image 0" descr="preencoded.png">    </p:cNvPr>
          <p:cNvPicPr>
            <a:picLocks noChangeAspect="1"/>
          </p:cNvPicPr>
          <p:nvPr/>
        </p:nvPicPr>
        <p:blipFill>
          <a:blip r:embed="rId1"/>
          <a:stretch>
            <a:fillRect/>
          </a:stretch>
        </p:blipFill>
        <p:spPr>
          <a:xfrm>
            <a:off x="640080" y="2011680"/>
            <a:ext cx="347472" cy="347472"/>
          </a:xfrm>
          <a:prstGeom prst="rect">
            <a:avLst/>
          </a:prstGeom>
        </p:spPr>
      </p:pic>
      <p:sp>
        <p:nvSpPr>
          <p:cNvPr id="5" name="Text 1"/>
          <p:cNvSpPr txBox="1"/>
          <p:nvPr/>
        </p:nvSpPr>
        <p:spPr>
          <a:xfrm>
            <a:off x="1143000" y="1965960"/>
            <a:ext cx="5088636" cy="457200"/>
          </a:xfrm>
          <a:prstGeom prst="rect">
            <a:avLst/>
          </a:prstGeom>
          <a:noFill/>
          <a:ln/>
        </p:spPr>
        <p:txBody>
          <a:bodyPr wrap="square" lIns="0" tIns="0" rIns="0" bIns="0" rtlCol="0" anchor="ctr"/>
          <a:lstStyle/>
          <a:p>
            <a:pPr indent="0" marL="0">
              <a:buNone/>
            </a:pPr>
            <a:r>
              <a:rPr lang="en-US" sz="2400" b="1" dirty="0">
                <a:solidFill>
                  <a:schemeClr val="bg1"/>
                </a:solidFill>
              </a:rPr>
              <a:t>The role of AI</a:t>
            </a:r>
            <a:endParaRPr lang="en-US" sz="2400" dirty="0"/>
          </a:p>
        </p:txBody>
      </p:sp>
      <p:sp>
        <p:nvSpPr>
          <p:cNvPr id="6" name="Text 2"/>
          <p:cNvSpPr txBox="1"/>
          <p:nvPr/>
        </p:nvSpPr>
        <p:spPr>
          <a:xfrm>
            <a:off x="640080" y="2606040"/>
            <a:ext cx="5088636" cy="2377440"/>
          </a:xfrm>
          <a:prstGeom prst="rect">
            <a:avLst/>
          </a:prstGeom>
          <a:noFill/>
          <a:ln/>
        </p:spPr>
        <p:txBody>
          <a:bodyPr wrap="square" lIns="0" tIns="0" rIns="0" bIns="0" rtlCol="0" anchor="t"/>
          <a:lstStyle/>
          <a:p>
            <a:pPr marL="342900" indent="-342900">
              <a:spcAft>
                <a:spcPts val="1000"/>
              </a:spcAft>
              <a:buSzPct val="100000"/>
              <a:buFont typeface="+mj-lt"/>
              <a:buAutoNum type="arabicPeriod" startAt="1"/>
            </a:pPr>
            <a:r>
              <a:rPr lang="en-US" sz="1800" dirty="0">
                <a:solidFill>
                  <a:schemeClr val="bg1"/>
                </a:solidFill>
              </a:rPr>
              <a:t>Stored facts, computed in code</a:t>
            </a:r>
            <a:endParaRPr lang="en-US" sz="1800" dirty="0"/>
          </a:p>
          <a:p>
            <a:pPr marL="342900" indent="-342900">
              <a:spcAft>
                <a:spcPts val="1000"/>
              </a:spcAft>
              <a:buSzPct val="100000"/>
              <a:buFont typeface="+mj-lt"/>
              <a:buAutoNum type="arabicPeriod" startAt="1"/>
            </a:pPr>
            <a:r>
              <a:rPr lang="en-US" sz="1800" dirty="0">
                <a:solidFill>
                  <a:schemeClr val="bg1"/>
                </a:solidFill>
              </a:rPr>
              <a:t>A language model writes the district report</a:t>
            </a:r>
            <a:endParaRPr lang="en-US" sz="1800" dirty="0"/>
          </a:p>
          <a:p>
            <a:pPr marL="342900" indent="-342900">
              <a:spcAft>
                <a:spcPts val="1000"/>
              </a:spcAft>
              <a:buSzPct val="100000"/>
              <a:buFont typeface="+mj-lt"/>
              <a:buAutoNum type="arabicPeriod" startAt="1"/>
            </a:pPr>
            <a:r>
              <a:rPr lang="en-US" sz="1800" b="1" dirty="0">
                <a:solidFill>
                  <a:srgbClr val="B5D3EE"/>
                </a:solidFill>
              </a:rPr>
              <a:t>A guard rejects any number not in the facts</a:t>
            </a:r>
            <a:endParaRPr lang="en-US" sz="1800" dirty="0"/>
          </a:p>
          <a:p>
            <a:pPr marL="342900" indent="-342900">
              <a:spcAft>
                <a:spcPts val="1000"/>
              </a:spcAft>
              <a:buSzPct val="100000"/>
              <a:buFont typeface="+mj-lt"/>
              <a:buAutoNum type="arabicPeriod" startAt="1"/>
            </a:pPr>
            <a:r>
              <a:rPr lang="en-US" sz="1800" dirty="0">
                <a:solidFill>
                  <a:schemeClr val="bg1"/>
                </a:solidFill>
              </a:rPr>
              <a:t>Every report carries an AI label</a:t>
            </a:r>
            <a:endParaRPr lang="en-US" sz="1800" dirty="0"/>
          </a:p>
        </p:txBody>
      </p:sp>
      <p:sp>
        <p:nvSpPr>
          <p:cNvPr id="7" name="Text 3"/>
          <p:cNvSpPr txBox="1"/>
          <p:nvPr/>
        </p:nvSpPr>
        <p:spPr>
          <a:xfrm>
            <a:off x="640080" y="5212080"/>
            <a:ext cx="5088636" cy="640080"/>
          </a:xfrm>
          <a:prstGeom prst="rect">
            <a:avLst/>
          </a:prstGeom>
          <a:noFill/>
          <a:ln/>
        </p:spPr>
        <p:txBody>
          <a:bodyPr wrap="square" lIns="0" tIns="0" rIns="0" bIns="0" rtlCol="0" anchor="t"/>
          <a:lstStyle/>
          <a:p>
            <a:pPr indent="0" marL="0">
              <a:buNone/>
            </a:pPr>
            <a:r>
              <a:rPr lang="en-US" sz="1500" dirty="0">
                <a:solidFill>
                  <a:srgbClr val="E5F0FA"/>
                </a:solidFill>
              </a:rPr>
              <a:t>The personalised report is built in the city service.</a:t>
            </a:r>
            <a:endParaRPr lang="en-US" sz="1500" dirty="0"/>
          </a:p>
        </p:txBody>
      </p:sp>
      <p:pic>
        <p:nvPicPr>
          <p:cNvPr id="8" name="Image 1" descr="preencoded.png">    </p:cNvPr>
          <p:cNvPicPr>
            <a:picLocks noChangeAspect="1"/>
          </p:cNvPicPr>
          <p:nvPr/>
        </p:nvPicPr>
        <p:blipFill>
          <a:blip r:embed="rId2"/>
          <a:stretch>
            <a:fillRect/>
          </a:stretch>
        </p:blipFill>
        <p:spPr>
          <a:xfrm>
            <a:off x="6460236" y="2011680"/>
            <a:ext cx="347472" cy="347472"/>
          </a:xfrm>
          <a:prstGeom prst="rect">
            <a:avLst/>
          </a:prstGeom>
        </p:spPr>
      </p:pic>
      <p:sp>
        <p:nvSpPr>
          <p:cNvPr id="9" name="Text 4"/>
          <p:cNvSpPr txBox="1"/>
          <p:nvPr/>
        </p:nvSpPr>
        <p:spPr>
          <a:xfrm>
            <a:off x="6963156" y="1965960"/>
            <a:ext cx="5088636" cy="457200"/>
          </a:xfrm>
          <a:prstGeom prst="rect">
            <a:avLst/>
          </a:prstGeom>
          <a:noFill/>
          <a:ln/>
        </p:spPr>
        <p:txBody>
          <a:bodyPr wrap="square" lIns="0" tIns="0" rIns="0" bIns="0" rtlCol="0" anchor="ctr"/>
          <a:lstStyle/>
          <a:p>
            <a:pPr indent="0" marL="0">
              <a:buNone/>
            </a:pPr>
            <a:r>
              <a:rPr lang="en-US" sz="2400" b="1" dirty="0">
                <a:solidFill>
                  <a:schemeClr val="bg1"/>
                </a:solidFill>
              </a:rPr>
              <a:t>Privacy and ethics</a:t>
            </a:r>
            <a:endParaRPr lang="en-US" sz="2400" dirty="0"/>
          </a:p>
        </p:txBody>
      </p:sp>
      <p:sp>
        <p:nvSpPr>
          <p:cNvPr id="10" name="Text 5"/>
          <p:cNvSpPr txBox="1"/>
          <p:nvPr/>
        </p:nvSpPr>
        <p:spPr>
          <a:xfrm>
            <a:off x="6460236" y="2606040"/>
            <a:ext cx="5088636" cy="3108960"/>
          </a:xfrm>
          <a:prstGeom prst="rect">
            <a:avLst/>
          </a:prstGeom>
          <a:noFill/>
          <a:ln/>
        </p:spPr>
        <p:txBody>
          <a:bodyPr wrap="square" lIns="0" tIns="0" rIns="0" bIns="0" rtlCol="0" anchor="t"/>
          <a:lstStyle/>
          <a:p>
            <a:pPr marL="228600" indent="-228600">
              <a:spcAft>
                <a:spcPts val="1200"/>
              </a:spcAft>
              <a:buSzPct val="100000"/>
              <a:buChar char="•"/>
            </a:pPr>
            <a:r>
              <a:rPr lang="en-US" sz="1800" dirty="0">
                <a:solidFill>
                  <a:schemeClr val="bg1"/>
                </a:solidFill>
              </a:rPr>
              <a:t>The backend stores nothing about users.</a:t>
            </a:r>
            <a:endParaRPr lang="en-US" sz="1800" dirty="0"/>
          </a:p>
          <a:p>
            <a:pPr marL="228600" indent="-228600">
              <a:spcAft>
                <a:spcPts val="1200"/>
              </a:spcAft>
              <a:buSzPct val="100000"/>
              <a:buChar char="•"/>
            </a:pPr>
            <a:r>
              <a:rPr lang="en-US" sz="1800" dirty="0">
                <a:solidFill>
                  <a:schemeClr val="bg1"/>
                </a:solidFill>
              </a:rPr>
              <a:t>The household profile stays in the browser (planned).</a:t>
            </a:r>
            <a:endParaRPr lang="en-US" sz="1800" dirty="0"/>
          </a:p>
          <a:p>
            <a:pPr marL="228600" indent="-228600">
              <a:spcAft>
                <a:spcPts val="1200"/>
              </a:spcAft>
              <a:buSzPct val="100000"/>
              <a:buChar char="•"/>
            </a:pPr>
            <a:r>
              <a:rPr lang="en-US" sz="1800" dirty="0">
                <a:solidFill>
                  <a:schemeClr val="bg1"/>
                </a:solidFill>
              </a:rPr>
              <a:t>It sets weights only. It never filters by who lives in a district: a legal risk.</a:t>
            </a:r>
            <a:endParaRPr lang="en-US" sz="1800" dirty="0"/>
          </a:p>
        </p:txBody>
      </p:sp>
      <p:sp>
        <p:nvSpPr>
          <p:cNvPr id="25" name="Slide Number Placeholder 0"/>
          <p:cNvSpPr>
            <a:spLocks noGrp="1"/>
          </p:cNvSpPr>
          <p:nvPr>
            <p:ph type="sldNum" sz="quarter" idx="4294967295"/>
          </p:nvPr>
        </p:nvSpPr>
        <p:spPr>
          <a:xfrm>
            <a:off x="11000232" y="27432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2"/>
                </a:solidFill>
              </a:defRPr>
            </a:lvl1pPr>
          </a:lstStyle>
          <a:p>
            <a:pPr algn="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Eyebrow"/>
          <p:cNvSpPr txBox="1"/>
          <p:nvPr/>
        </p:nvSpPr>
        <p:spPr>
          <a:xfrm>
            <a:off x="640080" y="274320"/>
            <a:ext cx="5486400" cy="274320"/>
          </a:xfrm>
          <a:prstGeom prst="rect">
            <a:avLst/>
          </a:prstGeom>
          <a:noFill/>
          <a:ln/>
        </p:spPr>
        <p:txBody>
          <a:bodyPr wrap="square" lIns="0" tIns="0" rIns="0" bIns="0" rtlCol="0" anchor="ctr"/>
          <a:lstStyle/>
          <a:p>
            <a:pPr indent="0" marL="0">
              <a:buNone/>
            </a:pPr>
            <a:r>
              <a:rPr lang="en-US" sz="1100" b="1" spc="100" kern="0" dirty="0">
                <a:solidFill>
                  <a:srgbClr val="0063AF"/>
                </a:solidFill>
              </a:rPr>
              <a:t>LIVE DEMO · 3 MINUTES</a:t>
            </a:r>
            <a:endParaRPr lang="en-US" sz="1100" dirty="0"/>
          </a:p>
        </p:txBody>
      </p:sp>
      <p:sp>
        <p:nvSpPr>
          <p:cNvPr id="4" name="Text 0"/>
          <p:cNvSpPr/>
          <p:nvPr>
            <p:ph idx="100" type="title" hasCustomPrompt="1"/>
          </p:nvPr>
        </p:nvSpPr>
        <p:spPr>
          <a:xfrm>
            <a:off x="640080" y="502920"/>
            <a:ext cx="10360152" cy="1143000"/>
          </a:xfrm>
          <a:prstGeom prst="rect">
            <a:avLst/>
          </a:prstGeom>
          <a:noFill/>
          <a:ln/>
        </p:spPr>
        <p:txBody>
          <a:bodyPr wrap="square" lIns="0" tIns="0" rIns="0" bIns="0" rtlCol="0" anchor="t"/>
          <a:lstStyle/>
          <a:p>
            <a:pPr indent="0" marL="0">
              <a:buNone/>
            </a:pPr>
            <a:r>
              <a:rPr lang="en-US" sz="3600" b="1" dirty="0">
                <a:solidFill>
                  <a:schemeClr val="tx1"/>
                </a:solidFill>
              </a:rPr>
              <a:t>From a persona to a shortlist</a:t>
            </a:r>
            <a:endParaRPr lang="en-US" sz="3600" dirty="0"/>
          </a:p>
        </p:txBody>
      </p:sp>
      <p:sp>
        <p:nvSpPr>
          <p:cNvPr id="5" name="Card"/>
          <p:cNvSpPr/>
          <p:nvPr/>
        </p:nvSpPr>
        <p:spPr>
          <a:xfrm>
            <a:off x="640080" y="2103120"/>
            <a:ext cx="2350008" cy="2194560"/>
          </a:xfrm>
          <a:prstGeom prst="roundRect">
            <a:avLst>
              <a:gd name="adj" fmla="val 6250"/>
            </a:avLst>
          </a:prstGeom>
          <a:solidFill>
            <a:srgbClr val="FFFFFF"/>
          </a:solidFill>
          <a:ln w="12700">
            <a:solidFill>
              <a:srgbClr val="BFBFBF"/>
            </a:solidFill>
            <a:prstDash val="solid"/>
          </a:ln>
        </p:spPr>
      </p:sp>
      <p:sp>
        <p:nvSpPr>
          <p:cNvPr id="6" name="Step number"/>
          <p:cNvSpPr/>
          <p:nvPr/>
        </p:nvSpPr>
        <p:spPr>
          <a:xfrm>
            <a:off x="868680" y="2331720"/>
            <a:ext cx="457200" cy="457200"/>
          </a:xfrm>
          <a:prstGeom prst="ellipse">
            <a:avLst/>
          </a:prstGeom>
          <a:solidFill>
            <a:srgbClr val="0063AF"/>
          </a:solidFill>
          <a:ln/>
        </p:spPr>
      </p:sp>
      <p:sp>
        <p:nvSpPr>
          <p:cNvPr id="7" name="Text 4"/>
          <p:cNvSpPr txBox="1"/>
          <p:nvPr/>
        </p:nvSpPr>
        <p:spPr>
          <a:xfrm>
            <a:off x="868680" y="23317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8" name="Text 5"/>
          <p:cNvSpPr txBox="1"/>
          <p:nvPr/>
        </p:nvSpPr>
        <p:spPr>
          <a:xfrm>
            <a:off x="868680" y="2926080"/>
            <a:ext cx="1892808" cy="1280160"/>
          </a:xfrm>
          <a:prstGeom prst="rect">
            <a:avLst/>
          </a:prstGeom>
          <a:noFill/>
          <a:ln/>
        </p:spPr>
        <p:txBody>
          <a:bodyPr wrap="square" lIns="0" tIns="0" rIns="0" bIns="0" rtlCol="0" anchor="t"/>
          <a:lstStyle/>
          <a:p>
            <a:pPr indent="0" marL="0">
              <a:buNone/>
            </a:pPr>
            <a:r>
              <a:rPr lang="en-US" sz="1800" b="1" dirty="0">
                <a:solidFill>
                  <a:schemeClr val="tx1"/>
                </a:solidFill>
              </a:rPr>
              <a:t>Pick a persona or set priorities</a:t>
            </a:r>
            <a:endParaRPr lang="en-US" sz="1800" dirty="0"/>
          </a:p>
        </p:txBody>
      </p:sp>
      <p:sp>
        <p:nvSpPr>
          <p:cNvPr id="9" name="Text 6"/>
          <p:cNvSpPr txBox="1"/>
          <p:nvPr/>
        </p:nvSpPr>
        <p:spPr>
          <a:xfrm>
            <a:off x="2990088" y="2926080"/>
            <a:ext cx="502920" cy="548640"/>
          </a:xfrm>
          <a:prstGeom prst="rect">
            <a:avLst/>
          </a:prstGeom>
          <a:noFill/>
          <a:ln/>
        </p:spPr>
        <p:txBody>
          <a:bodyPr wrap="square" lIns="0" tIns="0" rIns="0" bIns="0" rtlCol="0" anchor="ctr"/>
          <a:lstStyle/>
          <a:p>
            <a:pPr algn="ctr" indent="0" marL="0">
              <a:buNone/>
            </a:pPr>
            <a:r>
              <a:rPr lang="en-US" sz="2800" b="1" dirty="0">
                <a:solidFill>
                  <a:schemeClr val="accent1"/>
                </a:solidFill>
              </a:rPr>
              <a:t>→</a:t>
            </a:r>
            <a:endParaRPr lang="en-US" sz="2800" dirty="0"/>
          </a:p>
        </p:txBody>
      </p:sp>
      <p:sp>
        <p:nvSpPr>
          <p:cNvPr id="10" name="Card"/>
          <p:cNvSpPr/>
          <p:nvPr/>
        </p:nvSpPr>
        <p:spPr>
          <a:xfrm>
            <a:off x="3493008" y="2103120"/>
            <a:ext cx="2350008" cy="2194560"/>
          </a:xfrm>
          <a:prstGeom prst="roundRect">
            <a:avLst>
              <a:gd name="adj" fmla="val 6250"/>
            </a:avLst>
          </a:prstGeom>
          <a:solidFill>
            <a:srgbClr val="FFFFFF"/>
          </a:solidFill>
          <a:ln w="12700">
            <a:solidFill>
              <a:srgbClr val="BFBFBF"/>
            </a:solidFill>
            <a:prstDash val="solid"/>
          </a:ln>
        </p:spPr>
      </p:sp>
      <p:sp>
        <p:nvSpPr>
          <p:cNvPr id="11" name="Step number"/>
          <p:cNvSpPr/>
          <p:nvPr/>
        </p:nvSpPr>
        <p:spPr>
          <a:xfrm>
            <a:off x="3721608" y="2331720"/>
            <a:ext cx="457200" cy="457200"/>
          </a:xfrm>
          <a:prstGeom prst="ellipse">
            <a:avLst/>
          </a:prstGeom>
          <a:solidFill>
            <a:srgbClr val="0063AF"/>
          </a:solidFill>
          <a:ln/>
        </p:spPr>
      </p:sp>
      <p:sp>
        <p:nvSpPr>
          <p:cNvPr id="12" name="Text 9"/>
          <p:cNvSpPr txBox="1"/>
          <p:nvPr/>
        </p:nvSpPr>
        <p:spPr>
          <a:xfrm>
            <a:off x="3721608" y="23317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3" name="Text 10"/>
          <p:cNvSpPr txBox="1"/>
          <p:nvPr/>
        </p:nvSpPr>
        <p:spPr>
          <a:xfrm>
            <a:off x="3721608" y="2926080"/>
            <a:ext cx="1892808" cy="1280160"/>
          </a:xfrm>
          <a:prstGeom prst="rect">
            <a:avLst/>
          </a:prstGeom>
          <a:noFill/>
          <a:ln/>
        </p:spPr>
        <p:txBody>
          <a:bodyPr wrap="square" lIns="0" tIns="0" rIns="0" bIns="0" rtlCol="0" anchor="t"/>
          <a:lstStyle/>
          <a:p>
            <a:pPr indent="0" marL="0">
              <a:buNone/>
            </a:pPr>
            <a:r>
              <a:rPr lang="en-US" sz="1800" b="1" dirty="0">
                <a:solidFill>
                  <a:schemeClr val="tx1"/>
                </a:solidFill>
              </a:rPr>
              <a:t>Ranked districts on the accessible map</a:t>
            </a:r>
            <a:endParaRPr lang="en-US" sz="1800" dirty="0"/>
          </a:p>
        </p:txBody>
      </p:sp>
      <p:sp>
        <p:nvSpPr>
          <p:cNvPr id="14" name="Text 11"/>
          <p:cNvSpPr txBox="1"/>
          <p:nvPr/>
        </p:nvSpPr>
        <p:spPr>
          <a:xfrm>
            <a:off x="5843016" y="2926080"/>
            <a:ext cx="502920" cy="548640"/>
          </a:xfrm>
          <a:prstGeom prst="rect">
            <a:avLst/>
          </a:prstGeom>
          <a:noFill/>
          <a:ln/>
        </p:spPr>
        <p:txBody>
          <a:bodyPr wrap="square" lIns="0" tIns="0" rIns="0" bIns="0" rtlCol="0" anchor="ctr"/>
          <a:lstStyle/>
          <a:p>
            <a:pPr algn="ctr" indent="0" marL="0">
              <a:buNone/>
            </a:pPr>
            <a:r>
              <a:rPr lang="en-US" sz="2800" b="1" dirty="0">
                <a:solidFill>
                  <a:schemeClr val="accent1"/>
                </a:solidFill>
              </a:rPr>
              <a:t>→</a:t>
            </a:r>
            <a:endParaRPr lang="en-US" sz="2800" dirty="0"/>
          </a:p>
        </p:txBody>
      </p:sp>
      <p:sp>
        <p:nvSpPr>
          <p:cNvPr id="15" name="Card"/>
          <p:cNvSpPr/>
          <p:nvPr/>
        </p:nvSpPr>
        <p:spPr>
          <a:xfrm>
            <a:off x="6345936" y="2103120"/>
            <a:ext cx="2350008" cy="2194560"/>
          </a:xfrm>
          <a:prstGeom prst="roundRect">
            <a:avLst>
              <a:gd name="adj" fmla="val 6250"/>
            </a:avLst>
          </a:prstGeom>
          <a:solidFill>
            <a:srgbClr val="FFFFFF"/>
          </a:solidFill>
          <a:ln w="12700">
            <a:solidFill>
              <a:srgbClr val="BFBFBF"/>
            </a:solidFill>
            <a:prstDash val="solid"/>
          </a:ln>
        </p:spPr>
      </p:sp>
      <p:sp>
        <p:nvSpPr>
          <p:cNvPr id="16" name="Step number"/>
          <p:cNvSpPr/>
          <p:nvPr/>
        </p:nvSpPr>
        <p:spPr>
          <a:xfrm>
            <a:off x="6574536" y="2331720"/>
            <a:ext cx="457200" cy="457200"/>
          </a:xfrm>
          <a:prstGeom prst="ellipse">
            <a:avLst/>
          </a:prstGeom>
          <a:solidFill>
            <a:srgbClr val="0063AF"/>
          </a:solidFill>
          <a:ln/>
        </p:spPr>
      </p:sp>
      <p:sp>
        <p:nvSpPr>
          <p:cNvPr id="17" name="Text 14"/>
          <p:cNvSpPr txBox="1"/>
          <p:nvPr/>
        </p:nvSpPr>
        <p:spPr>
          <a:xfrm>
            <a:off x="6574536" y="23317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8" name="Text 15"/>
          <p:cNvSpPr txBox="1"/>
          <p:nvPr/>
        </p:nvSpPr>
        <p:spPr>
          <a:xfrm>
            <a:off x="6574536" y="2926080"/>
            <a:ext cx="1892808" cy="1280160"/>
          </a:xfrm>
          <a:prstGeom prst="rect">
            <a:avLst/>
          </a:prstGeom>
          <a:noFill/>
          <a:ln/>
        </p:spPr>
        <p:txBody>
          <a:bodyPr wrap="square" lIns="0" tIns="0" rIns="0" bIns="0" rtlCol="0" anchor="t"/>
          <a:lstStyle/>
          <a:p>
            <a:pPr indent="0" marL="0">
              <a:buNone/>
            </a:pPr>
            <a:r>
              <a:rPr lang="en-US" sz="1800" b="1" dirty="0">
                <a:solidFill>
                  <a:schemeClr val="tx1"/>
                </a:solidFill>
              </a:rPr>
              <a:t>Open one: provenance, AI report, price history</a:t>
            </a:r>
            <a:endParaRPr lang="en-US" sz="1800" dirty="0"/>
          </a:p>
        </p:txBody>
      </p:sp>
      <p:sp>
        <p:nvSpPr>
          <p:cNvPr id="19" name="Text 16"/>
          <p:cNvSpPr txBox="1"/>
          <p:nvPr/>
        </p:nvSpPr>
        <p:spPr>
          <a:xfrm>
            <a:off x="8695944" y="2926080"/>
            <a:ext cx="502920" cy="548640"/>
          </a:xfrm>
          <a:prstGeom prst="rect">
            <a:avLst/>
          </a:prstGeom>
          <a:noFill/>
          <a:ln/>
        </p:spPr>
        <p:txBody>
          <a:bodyPr wrap="square" lIns="0" tIns="0" rIns="0" bIns="0" rtlCol="0" anchor="ctr"/>
          <a:lstStyle/>
          <a:p>
            <a:pPr algn="ctr" indent="0" marL="0">
              <a:buNone/>
            </a:pPr>
            <a:r>
              <a:rPr lang="en-US" sz="2800" b="1" dirty="0">
                <a:solidFill>
                  <a:schemeClr val="accent1"/>
                </a:solidFill>
              </a:rPr>
              <a:t>→</a:t>
            </a:r>
            <a:endParaRPr lang="en-US" sz="2800" dirty="0"/>
          </a:p>
        </p:txBody>
      </p:sp>
      <p:sp>
        <p:nvSpPr>
          <p:cNvPr id="20" name="Card"/>
          <p:cNvSpPr/>
          <p:nvPr/>
        </p:nvSpPr>
        <p:spPr>
          <a:xfrm>
            <a:off x="9198864" y="2103120"/>
            <a:ext cx="2350008" cy="2194560"/>
          </a:xfrm>
          <a:prstGeom prst="roundRect">
            <a:avLst>
              <a:gd name="adj" fmla="val 6250"/>
            </a:avLst>
          </a:prstGeom>
          <a:solidFill>
            <a:srgbClr val="FFFFFF"/>
          </a:solidFill>
          <a:ln w="12700">
            <a:solidFill>
              <a:srgbClr val="BFBFBF"/>
            </a:solidFill>
            <a:prstDash val="solid"/>
          </a:ln>
        </p:spPr>
      </p:sp>
      <p:sp>
        <p:nvSpPr>
          <p:cNvPr id="21" name="Step number"/>
          <p:cNvSpPr/>
          <p:nvPr/>
        </p:nvSpPr>
        <p:spPr>
          <a:xfrm>
            <a:off x="9427464" y="2331720"/>
            <a:ext cx="457200" cy="457200"/>
          </a:xfrm>
          <a:prstGeom prst="ellipse">
            <a:avLst/>
          </a:prstGeom>
          <a:solidFill>
            <a:srgbClr val="0063AF"/>
          </a:solidFill>
          <a:ln/>
        </p:spPr>
      </p:sp>
      <p:sp>
        <p:nvSpPr>
          <p:cNvPr id="22" name="Text 19"/>
          <p:cNvSpPr txBox="1"/>
          <p:nvPr/>
        </p:nvSpPr>
        <p:spPr>
          <a:xfrm>
            <a:off x="9427464" y="23317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3" name="Text 20"/>
          <p:cNvSpPr txBox="1"/>
          <p:nvPr/>
        </p:nvSpPr>
        <p:spPr>
          <a:xfrm>
            <a:off x="9427464" y="2926080"/>
            <a:ext cx="1892808" cy="1280160"/>
          </a:xfrm>
          <a:prstGeom prst="rect">
            <a:avLst/>
          </a:prstGeom>
          <a:noFill/>
          <a:ln/>
        </p:spPr>
        <p:txBody>
          <a:bodyPr wrap="square" lIns="0" tIns="0" rIns="0" bIns="0" rtlCol="0" anchor="t"/>
          <a:lstStyle/>
          <a:p>
            <a:pPr indent="0" marL="0">
              <a:buNone/>
            </a:pPr>
            <a:r>
              <a:rPr lang="en-US" sz="1800" b="1" dirty="0">
                <a:solidFill>
                  <a:schemeClr val="tx1"/>
                </a:solidFill>
              </a:rPr>
              <a:t>Compare districts</a:t>
            </a:r>
            <a:endParaRPr lang="en-US" sz="1800" dirty="0"/>
          </a:p>
        </p:txBody>
      </p:sp>
      <p:sp>
        <p:nvSpPr>
          <p:cNvPr id="24" name="Design strip"/>
          <p:cNvSpPr/>
          <p:nvPr/>
        </p:nvSpPr>
        <p:spPr>
          <a:xfrm>
            <a:off x="640080" y="4846320"/>
            <a:ext cx="10908792" cy="1097280"/>
          </a:xfrm>
          <a:prstGeom prst="roundRect">
            <a:avLst>
              <a:gd name="adj" fmla="val 10000"/>
            </a:avLst>
          </a:prstGeom>
          <a:solidFill>
            <a:schemeClr val="bg2"/>
          </a:solidFill>
          <a:ln/>
        </p:spPr>
      </p:sp>
      <p:sp>
        <p:nvSpPr>
          <p:cNvPr id="25" name="Shape 22"/>
          <p:cNvSpPr/>
          <p:nvPr/>
        </p:nvSpPr>
        <p:spPr>
          <a:xfrm>
            <a:off x="1005840" y="5303520"/>
            <a:ext cx="182880" cy="182880"/>
          </a:xfrm>
          <a:prstGeom prst="ellipse">
            <a:avLst/>
          </a:prstGeom>
          <a:solidFill>
            <a:srgbClr val="0063AF"/>
          </a:solidFill>
          <a:ln/>
        </p:spPr>
      </p:sp>
      <p:sp>
        <p:nvSpPr>
          <p:cNvPr id="26" name="Text 23"/>
          <p:cNvSpPr txBox="1"/>
          <p:nvPr/>
        </p:nvSpPr>
        <p:spPr>
          <a:xfrm>
            <a:off x="1325880" y="5166360"/>
            <a:ext cx="3179064" cy="457200"/>
          </a:xfrm>
          <a:prstGeom prst="rect">
            <a:avLst/>
          </a:prstGeom>
          <a:noFill/>
          <a:ln/>
        </p:spPr>
        <p:txBody>
          <a:bodyPr wrap="square" lIns="0" tIns="0" rIns="0" bIns="0" rtlCol="0" anchor="ctr"/>
          <a:lstStyle/>
          <a:p>
            <a:pPr indent="0" marL="0">
              <a:buNone/>
            </a:pPr>
            <a:r>
              <a:rPr lang="en-US" sz="1600" b="1" dirty="0">
                <a:solidFill>
                  <a:schemeClr val="tx1"/>
                </a:solidFill>
              </a:rPr>
              <a:t>Look follows krakow.pl</a:t>
            </a:r>
            <a:endParaRPr lang="en-US" sz="1600" dirty="0"/>
          </a:p>
        </p:txBody>
      </p:sp>
      <p:sp>
        <p:nvSpPr>
          <p:cNvPr id="27" name="Shape 24"/>
          <p:cNvSpPr/>
          <p:nvPr/>
        </p:nvSpPr>
        <p:spPr>
          <a:xfrm>
            <a:off x="4642104" y="5303520"/>
            <a:ext cx="182880" cy="182880"/>
          </a:xfrm>
          <a:prstGeom prst="ellipse">
            <a:avLst/>
          </a:prstGeom>
          <a:solidFill>
            <a:srgbClr val="0063AF"/>
          </a:solidFill>
          <a:ln/>
        </p:spPr>
      </p:sp>
      <p:sp>
        <p:nvSpPr>
          <p:cNvPr id="28" name="Text 25"/>
          <p:cNvSpPr txBox="1"/>
          <p:nvPr/>
        </p:nvSpPr>
        <p:spPr>
          <a:xfrm>
            <a:off x="4962144" y="5166360"/>
            <a:ext cx="3179064" cy="457200"/>
          </a:xfrm>
          <a:prstGeom prst="rect">
            <a:avLst/>
          </a:prstGeom>
          <a:noFill/>
          <a:ln/>
        </p:spPr>
        <p:txBody>
          <a:bodyPr wrap="square" lIns="0" tIns="0" rIns="0" bIns="0" rtlCol="0" anchor="ctr"/>
          <a:lstStyle/>
          <a:p>
            <a:pPr indent="0" marL="0">
              <a:buNone/>
            </a:pPr>
            <a:r>
              <a:rPr lang="en-US" sz="1600" b="1" dirty="0">
                <a:solidFill>
                  <a:schemeClr val="tx1"/>
                </a:solidFill>
              </a:rPr>
              <a:t>WCAG 2.2 AA target</a:t>
            </a:r>
            <a:endParaRPr lang="en-US" sz="1600" dirty="0"/>
          </a:p>
        </p:txBody>
      </p:sp>
      <p:sp>
        <p:nvSpPr>
          <p:cNvPr id="29" name="Shape 26"/>
          <p:cNvSpPr/>
          <p:nvPr/>
        </p:nvSpPr>
        <p:spPr>
          <a:xfrm>
            <a:off x="8278368" y="5303520"/>
            <a:ext cx="182880" cy="182880"/>
          </a:xfrm>
          <a:prstGeom prst="ellipse">
            <a:avLst/>
          </a:prstGeom>
          <a:solidFill>
            <a:srgbClr val="0063AF"/>
          </a:solidFill>
          <a:ln/>
        </p:spPr>
      </p:sp>
      <p:sp>
        <p:nvSpPr>
          <p:cNvPr id="30" name="Text 27"/>
          <p:cNvSpPr txBox="1"/>
          <p:nvPr/>
        </p:nvSpPr>
        <p:spPr>
          <a:xfrm>
            <a:off x="8598408" y="5166360"/>
            <a:ext cx="3179064" cy="457200"/>
          </a:xfrm>
          <a:prstGeom prst="rect">
            <a:avLst/>
          </a:prstGeom>
          <a:noFill/>
          <a:ln/>
        </p:spPr>
        <p:txBody>
          <a:bodyPr wrap="square" lIns="0" tIns="0" rIns="0" bIns="0" rtlCol="0" anchor="ctr"/>
          <a:lstStyle/>
          <a:p>
            <a:pPr indent="0" marL="0">
              <a:buNone/>
            </a:pPr>
            <a:r>
              <a:rPr lang="en-US" sz="1600" b="1" dirty="0">
                <a:solidFill>
                  <a:schemeClr val="tx1"/>
                </a:solidFill>
              </a:rPr>
              <a:t>Keyboard and small screens</a:t>
            </a:r>
            <a:endParaRPr lang="en-US" sz="1600" dirty="0"/>
          </a:p>
        </p:txBody>
      </p:sp>
      <p:sp>
        <p:nvSpPr>
          <p:cNvPr id="25" name="Slide Number Placeholder 0"/>
          <p:cNvSpPr>
            <a:spLocks noGrp="1"/>
          </p:cNvSpPr>
          <p:nvPr>
            <p:ph type="sldNum" sz="quarter" idx="4294967295"/>
          </p:nvPr>
        </p:nvSpPr>
        <p:spPr>
          <a:xfrm>
            <a:off x="11000232" y="27432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0"/>
          <p:cNvSpPr/>
          <p:nvPr>
            <p:ph idx="100" type="title" hasCustomPrompt="1"/>
          </p:nvPr>
        </p:nvSpPr>
        <p:spPr>
          <a:xfrm>
            <a:off x="640080" y="502920"/>
            <a:ext cx="10360152" cy="1143000"/>
          </a:xfrm>
          <a:prstGeom prst="rect">
            <a:avLst/>
          </a:prstGeom>
          <a:noFill/>
          <a:ln/>
        </p:spPr>
        <p:txBody>
          <a:bodyPr wrap="square" lIns="0" tIns="0" rIns="0" bIns="0" rtlCol="0" anchor="t"/>
          <a:lstStyle/>
          <a:p>
            <a:pPr indent="0" marL="0">
              <a:buNone/>
            </a:pPr>
            <a:r>
              <a:rPr lang="en-US" sz="3600" b="1" dirty="0">
                <a:solidFill>
                  <a:schemeClr val="tx1"/>
                </a:solidFill>
              </a:rPr>
              <a:t>What a city could add. And why we are different</a:t>
            </a:r>
            <a:endParaRPr lang="en-US" sz="3600" dirty="0"/>
          </a:p>
        </p:txBody>
      </p:sp>
      <p:sp>
        <p:nvSpPr>
          <p:cNvPr id="4" name="Text 1"/>
          <p:cNvSpPr txBox="1"/>
          <p:nvPr/>
        </p:nvSpPr>
        <p:spPr>
          <a:xfrm>
            <a:off x="640080" y="1828800"/>
            <a:ext cx="2743200" cy="457200"/>
          </a:xfrm>
          <a:prstGeom prst="rect">
            <a:avLst/>
          </a:prstGeom>
          <a:noFill/>
          <a:ln/>
        </p:spPr>
        <p:txBody>
          <a:bodyPr wrap="square" lIns="0" tIns="0" rIns="0" bIns="0" rtlCol="0" anchor="ctr"/>
          <a:lstStyle/>
          <a:p>
            <a:pPr indent="0" marL="0">
              <a:buNone/>
            </a:pPr>
            <a:r>
              <a:rPr lang="en-US" sz="2400" b="1" dirty="0">
                <a:solidFill>
                  <a:schemeClr val="tx1"/>
                </a:solidFill>
              </a:rPr>
              <a:t>For the city</a:t>
            </a:r>
            <a:endParaRPr lang="en-US" sz="2400" dirty="0"/>
          </a:p>
        </p:txBody>
      </p:sp>
      <p:sp>
        <p:nvSpPr>
          <p:cNvPr id="5" name="Tag"/>
          <p:cNvSpPr/>
          <p:nvPr/>
        </p:nvSpPr>
        <p:spPr>
          <a:xfrm>
            <a:off x="2651760" y="1901952"/>
            <a:ext cx="1280160" cy="292608"/>
          </a:xfrm>
          <a:prstGeom prst="roundRect">
            <a:avLst>
              <a:gd name="adj" fmla="val 50000"/>
            </a:avLst>
          </a:prstGeom>
          <a:solidFill>
            <a:schemeClr val="bg1"/>
          </a:solidFill>
          <a:ln w="12700">
            <a:solidFill>
              <a:srgbClr val="0063AF"/>
            </a:solidFill>
            <a:prstDash val="solid"/>
          </a:ln>
        </p:spPr>
      </p:sp>
      <p:sp>
        <p:nvSpPr>
          <p:cNvPr id="6" name="Text 3"/>
          <p:cNvSpPr txBox="1"/>
          <p:nvPr/>
        </p:nvSpPr>
        <p:spPr>
          <a:xfrm>
            <a:off x="2651760" y="1901952"/>
            <a:ext cx="1280160" cy="292608"/>
          </a:xfrm>
          <a:prstGeom prst="rect">
            <a:avLst/>
          </a:prstGeom>
          <a:noFill/>
          <a:ln/>
        </p:spPr>
        <p:txBody>
          <a:bodyPr wrap="square" lIns="0" tIns="0" rIns="0" bIns="0" rtlCol="0" anchor="ctr"/>
          <a:lstStyle/>
          <a:p>
            <a:pPr algn="ctr" indent="0" marL="0">
              <a:buNone/>
            </a:pPr>
            <a:r>
              <a:rPr lang="en-US" sz="1000" b="1" spc="100" kern="0" dirty="0">
                <a:solidFill>
                  <a:srgbClr val="0063AF"/>
                </a:solidFill>
              </a:rPr>
              <a:t>CONCEPTS</a:t>
            </a:r>
            <a:endParaRPr lang="en-US" sz="1000" dirty="0"/>
          </a:p>
        </p:txBody>
      </p:sp>
      <p:sp>
        <p:nvSpPr>
          <p:cNvPr id="7" name="Text 4"/>
          <p:cNvSpPr txBox="1"/>
          <p:nvPr/>
        </p:nvSpPr>
        <p:spPr>
          <a:xfrm>
            <a:off x="640080" y="2423160"/>
            <a:ext cx="4846320" cy="2377440"/>
          </a:xfrm>
          <a:prstGeom prst="rect">
            <a:avLst/>
          </a:prstGeom>
          <a:noFill/>
          <a:ln/>
        </p:spPr>
        <p:txBody>
          <a:bodyPr wrap="square" lIns="0" tIns="0" rIns="0" bIns="0" rtlCol="0" anchor="t"/>
          <a:lstStyle/>
          <a:p>
            <a:pPr marL="228600" indent="-228600">
              <a:spcAft>
                <a:spcPts val="1000"/>
              </a:spcAft>
              <a:buSzPct val="100000"/>
              <a:buChar char="•"/>
            </a:pPr>
            <a:r>
              <a:rPr lang="en-US" sz="1600" b="1" dirty="0">
                <a:solidFill>
                  <a:schemeClr val="tx1"/>
                </a:solidFill>
              </a:rPr>
              <a:t>Official notices </a:t>
            </a:r>
            <a:pPr indent="0" marL="0">
              <a:spcAft>
                <a:spcPts val="1000"/>
              </a:spcAft>
              <a:buNone/>
            </a:pPr>
            <a:r>
              <a:rPr lang="en-US" sz="1600" dirty="0">
                <a:solidFill>
                  <a:schemeClr val="tx1"/>
                </a:solidFill>
              </a:rPr>
              <a:t>of planned projects</a:t>
            </a:r>
            <a:endParaRPr lang="en-US" sz="1600" dirty="0"/>
          </a:p>
          <a:p>
            <a:pPr marL="228600" indent="-228600">
              <a:spcAft>
                <a:spcPts val="1000"/>
              </a:spcAft>
              <a:buSzPct val="100000"/>
              <a:buChar char="•"/>
            </a:pPr>
            <a:r>
              <a:rPr lang="en-US" sz="1600" b="1" dirty="0">
                <a:solidFill>
                  <a:schemeClr val="tx1"/>
                </a:solidFill>
              </a:rPr>
              <a:t>Verified resident feedback: </a:t>
            </a:r>
            <a:pPr indent="0" marL="0">
              <a:spcAft>
                <a:spcPts val="1000"/>
              </a:spcAft>
              <a:buNone/>
            </a:pPr>
            <a:r>
              <a:rPr lang="en-US" sz="1600" dirty="0">
                <a:solidFill>
                  <a:schemeClr val="tx1"/>
                </a:solidFill>
              </a:rPr>
              <a:t>identity checked, salted token, so a landlord cannot trace a report</a:t>
            </a:r>
            <a:endParaRPr lang="en-US" sz="1600" dirty="0"/>
          </a:p>
          <a:p>
            <a:pPr marL="228600" indent="-228600">
              <a:spcAft>
                <a:spcPts val="1000"/>
              </a:spcAft>
              <a:buSzPct val="100000"/>
              <a:buChar char="•"/>
            </a:pPr>
            <a:r>
              <a:rPr lang="en-US" sz="1600" b="1" dirty="0">
                <a:solidFill>
                  <a:schemeClr val="tx1"/>
                </a:solidFill>
              </a:rPr>
              <a:t>Anonymous demand counts </a:t>
            </a:r>
            <a:pPr indent="0" marL="0">
              <a:spcAft>
                <a:spcPts val="1000"/>
              </a:spcAft>
              <a:buNone/>
            </a:pPr>
            <a:r>
              <a:rPr lang="en-US" sz="1600" dirty="0">
                <a:solidFill>
                  <a:schemeClr val="tx1"/>
                </a:solidFill>
              </a:rPr>
              <a:t>by district</a:t>
            </a:r>
            <a:endParaRPr lang="en-US" sz="1600" dirty="0"/>
          </a:p>
        </p:txBody>
      </p:sp>
      <p:sp>
        <p:nvSpPr>
          <p:cNvPr id="8" name="Text 5"/>
          <p:cNvSpPr txBox="1"/>
          <p:nvPr/>
        </p:nvSpPr>
        <p:spPr>
          <a:xfrm>
            <a:off x="640080" y="4892040"/>
            <a:ext cx="4846320" cy="1188720"/>
          </a:xfrm>
          <a:prstGeom prst="rect">
            <a:avLst/>
          </a:prstGeom>
          <a:noFill/>
          <a:ln/>
        </p:spPr>
        <p:txBody>
          <a:bodyPr wrap="square" lIns="0" tIns="0" rIns="0" bIns="0" rtlCol="0" anchor="t"/>
          <a:lstStyle/>
          <a:p>
            <a:pPr indent="0" marL="0">
              <a:buNone/>
            </a:pPr>
            <a:r>
              <a:rPr lang="en-US" sz="1400" dirty="0">
                <a:solidFill>
                  <a:srgbClr val="505050"/>
                </a:solidFill>
              </a:rPr>
              <a:t>Built, not published: the feedback form and the personalised AI report, in the city service. Feedback stays unverified and never changes a score.</a:t>
            </a:r>
            <a:endParaRPr lang="en-US" sz="1400" dirty="0"/>
          </a:p>
        </p:txBody>
      </p:sp>
      <p:sp>
        <p:nvSpPr>
          <p:cNvPr id="9" name="Text 6"/>
          <p:cNvSpPr txBox="1"/>
          <p:nvPr/>
        </p:nvSpPr>
        <p:spPr>
          <a:xfrm>
            <a:off x="6035040" y="1828800"/>
            <a:ext cx="4572000" cy="457200"/>
          </a:xfrm>
          <a:prstGeom prst="rect">
            <a:avLst/>
          </a:prstGeom>
          <a:noFill/>
          <a:ln/>
        </p:spPr>
        <p:txBody>
          <a:bodyPr wrap="square" lIns="0" tIns="0" rIns="0" bIns="0" rtlCol="0" anchor="ctr"/>
          <a:lstStyle/>
          <a:p>
            <a:pPr indent="0" marL="0">
              <a:buNone/>
            </a:pPr>
            <a:r>
              <a:rPr lang="en-US" sz="2400" b="1" dirty="0">
                <a:solidFill>
                  <a:schemeClr val="tx1"/>
                </a:solidFill>
              </a:rPr>
              <a:t>The market</a:t>
            </a:r>
            <a:endParaRPr lang="en-US" sz="2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035040" y="2423160"/>
          <a:ext cx="5513832" cy="914400"/>
        </p:xfrm>
        <a:graphic>
          <a:graphicData uri="http://schemas.openxmlformats.org/drawingml/2006/table">
            <a:tbl>
              <a:tblPr/>
              <a:tblGrid>
                <a:gridCol w="2194560"/>
                <a:gridCol w="3319272"/>
              </a:tblGrid>
              <a:tr h="457200">
                <a:tc>
                  <a:txBody>
                    <a:bodyPr/>
                    <a:lstStyle/>
                    <a:p>
                      <a:pPr indent="0" marL="0">
                        <a:buNone/>
                      </a:pPr>
                      <a:r>
                        <a:rPr lang="en-US" sz="1600" b="1" dirty="0">
                          <a:solidFill>
                            <a:srgbClr val="071F32"/>
                          </a:solidFill>
                        </a:rPr>
                        <a:t>MiejscoMetr</a:t>
                      </a:r>
                      <a:endParaRPr lang="en-US" sz="1600" dirty="0"/>
                    </a:p>
                  </a:txBody>
                  <a:tcPr marL="109728" marR="109728" marT="45720" marB="45720" anchor="ctr">
                    <a:lnL w="0" cap="flat" cmpd="sng" algn="ctr">
                      <a:noFill/>
                    </a:lnL>
                    <a:lnR w="0" cap="flat" cmpd="sng" algn="ctr">
                      <a:noFill/>
                    </a:lnR>
                    <a:lnT w="0" cap="flat" cmpd="sng" algn="ctr">
                      <a:noFill/>
                    </a:lnT>
                    <a:lnB w="12700" cap="flat" cmpd="sng" algn="ctr">
                      <a:solidFill>
                        <a:srgbClr val="BFBFBF"/>
                      </a:solidFill>
                      <a:prstDash val="solid"/>
                      <a:round/>
                      <a:headEnd type="none" w="med" len="med"/>
                      <a:tailEnd type="none" w="med" len="med"/>
                    </a:lnB>
                  </a:tcPr>
                </a:tc>
                <a:tc>
                  <a:txBody>
                    <a:bodyPr/>
                    <a:lstStyle/>
                    <a:p>
                      <a:pPr indent="0" marL="0">
                        <a:buNone/>
                      </a:pPr>
                      <a:r>
                        <a:rPr lang="en-US" sz="1600" dirty="0">
                          <a:solidFill>
                            <a:srgbClr val="071F32"/>
                          </a:solidFill>
                        </a:rPr>
                        <a:t>one address</a:t>
                      </a:r>
                      <a:endParaRPr lang="en-US" sz="1600" dirty="0"/>
                    </a:p>
                  </a:txBody>
                  <a:tcPr marL="109728" marR="109728" marT="45720" marB="45720" anchor="ctr">
                    <a:lnL w="0" cap="flat" cmpd="sng" algn="ctr">
                      <a:noFill/>
                    </a:lnL>
                    <a:lnR w="0" cap="flat" cmpd="sng" algn="ctr">
                      <a:noFill/>
                    </a:lnR>
                    <a:lnT w="0" cap="flat" cmpd="sng" algn="ctr">
                      <a:noFill/>
                    </a:lnT>
                    <a:lnB w="12700" cap="flat" cmpd="sng" algn="ctr">
                      <a:solidFill>
                        <a:srgbClr val="BFBFBF"/>
                      </a:solidFill>
                      <a:prstDash val="solid"/>
                      <a:round/>
                      <a:headEnd type="none" w="med" len="med"/>
                      <a:tailEnd type="none" w="med" len="med"/>
                    </a:lnB>
                  </a:tcPr>
                </a:tc>
              </a:tr>
              <a:tr h="457200">
                <a:tc>
                  <a:txBody>
                    <a:bodyPr/>
                    <a:lstStyle/>
                    <a:p>
                      <a:pPr indent="0" marL="0">
                        <a:buNone/>
                      </a:pPr>
                      <a:r>
                        <a:rPr lang="en-US" sz="1600" b="1" dirty="0">
                          <a:solidFill>
                            <a:srgbClr val="071F32"/>
                          </a:solidFill>
                        </a:rPr>
                        <a:t>Locumo</a:t>
                      </a:r>
                      <a:endParaRPr lang="en-US" sz="1600" dirty="0"/>
                    </a:p>
                  </a:txBody>
                  <a:tcPr marL="109728" marR="109728" marT="45720" marB="45720" anchor="ctr">
                    <a:lnL w="0" cap="flat" cmpd="sng" algn="ctr">
                      <a:noFill/>
                    </a:lnL>
                    <a:lnR w="0" cap="flat" cmpd="sng" algn="ctr">
                      <a:noFill/>
                    </a:lnR>
                    <a:lnT w="0" cap="flat" cmpd="sng" algn="ctr">
                      <a:noFill/>
                    </a:lnT>
                    <a:lnB w="12700" cap="flat" cmpd="sng" algn="ctr">
                      <a:solidFill>
                        <a:srgbClr val="BFBFBF"/>
                      </a:solidFill>
                      <a:prstDash val="solid"/>
                      <a:round/>
                      <a:headEnd type="none" w="med" len="med"/>
                      <a:tailEnd type="none" w="med" len="med"/>
                    </a:lnB>
                  </a:tcPr>
                </a:tc>
                <a:tc>
                  <a:txBody>
                    <a:bodyPr/>
                    <a:lstStyle/>
                    <a:p>
                      <a:pPr indent="0" marL="0">
                        <a:buNone/>
                      </a:pPr>
                      <a:r>
                        <a:rPr lang="en-US" sz="1600" dirty="0">
                          <a:solidFill>
                            <a:srgbClr val="071F32"/>
                          </a:solidFill>
                        </a:rPr>
                        <a:t>property reports</a:t>
                      </a:r>
                      <a:endParaRPr lang="en-US" sz="1600" dirty="0"/>
                    </a:p>
                  </a:txBody>
                  <a:tcPr marL="109728" marR="109728" marT="45720" marB="45720" anchor="ctr">
                    <a:lnL w="0" cap="flat" cmpd="sng" algn="ctr">
                      <a:noFill/>
                    </a:lnL>
                    <a:lnR w="0" cap="flat" cmpd="sng" algn="ctr">
                      <a:noFill/>
                    </a:lnR>
                    <a:lnT w="0" cap="flat" cmpd="sng" algn="ctr">
                      <a:noFill/>
                    </a:lnT>
                    <a:lnB w="12700" cap="flat" cmpd="sng" algn="ctr">
                      <a:solidFill>
                        <a:srgbClr val="BFBFBF"/>
                      </a:solidFill>
                      <a:prstDash val="solid"/>
                      <a:round/>
                      <a:headEnd type="none" w="med" len="med"/>
                      <a:tailEnd type="none" w="med" len="med"/>
                    </a:lnB>
                  </a:tcPr>
                </a:tc>
              </a:tr>
              <a:tr h="457200">
                <a:tc>
                  <a:txBody>
                    <a:bodyPr/>
                    <a:lstStyle/>
                    <a:p>
                      <a:pPr indent="0" marL="0">
                        <a:buNone/>
                      </a:pPr>
                      <a:r>
                        <a:rPr lang="en-US" sz="1600" b="1" dirty="0">
                          <a:solidFill>
                            <a:srgbClr val="071F32"/>
                          </a:solidFill>
                        </a:rPr>
                        <a:t>Dobra Lokacja</a:t>
                      </a:r>
                      <a:endParaRPr lang="en-US" sz="1600" dirty="0"/>
                    </a:p>
                  </a:txBody>
                  <a:tcPr marL="109728" marR="109728" marT="45720" marB="45720" anchor="ctr">
                    <a:lnL w="0" cap="flat" cmpd="sng" algn="ctr">
                      <a:noFill/>
                    </a:lnL>
                    <a:lnR w="0" cap="flat" cmpd="sng" algn="ctr">
                      <a:noFill/>
                    </a:lnR>
                    <a:lnT w="0" cap="flat" cmpd="sng" algn="ctr">
                      <a:noFill/>
                    </a:lnT>
                    <a:lnB w="12700" cap="flat" cmpd="sng" algn="ctr">
                      <a:solidFill>
                        <a:srgbClr val="BFBFBF"/>
                      </a:solidFill>
                      <a:prstDash val="solid"/>
                      <a:round/>
                      <a:headEnd type="none" w="med" len="med"/>
                      <a:tailEnd type="none" w="med" len="med"/>
                    </a:lnB>
                  </a:tcPr>
                </a:tc>
                <a:tc>
                  <a:txBody>
                    <a:bodyPr/>
                    <a:lstStyle/>
                    <a:p>
                      <a:pPr indent="0" marL="0">
                        <a:buNone/>
                      </a:pPr>
                      <a:r>
                        <a:rPr lang="en-US" sz="1600" dirty="0">
                          <a:solidFill>
                            <a:srgbClr val="071F32"/>
                          </a:solidFill>
                        </a:rPr>
                        <a:t>free map</a:t>
                      </a:r>
                      <a:endParaRPr lang="en-US" sz="1600" dirty="0"/>
                    </a:p>
                  </a:txBody>
                  <a:tcPr marL="109728" marR="109728" marT="45720" marB="45720" anchor="ctr">
                    <a:lnL w="0" cap="flat" cmpd="sng" algn="ctr">
                      <a:noFill/>
                    </a:lnL>
                    <a:lnR w="0" cap="flat" cmpd="sng" algn="ctr">
                      <a:noFill/>
                    </a:lnR>
                    <a:lnT w="0" cap="flat" cmpd="sng" algn="ctr">
                      <a:noFill/>
                    </a:lnT>
                    <a:lnB w="12700" cap="flat" cmpd="sng" algn="ctr">
                      <a:solidFill>
                        <a:srgbClr val="BFBFBF"/>
                      </a:solidFill>
                      <a:prstDash val="solid"/>
                      <a:round/>
                      <a:headEnd type="none" w="med" len="med"/>
                      <a:tailEnd type="none" w="med" len="med"/>
                    </a:lnB>
                  </a:tcPr>
                </a:tc>
              </a:tr>
              <a:tr h="457200">
                <a:tc>
                  <a:txBody>
                    <a:bodyPr/>
                    <a:lstStyle/>
                    <a:p>
                      <a:pPr indent="0" marL="0">
                        <a:buNone/>
                      </a:pPr>
                      <a:r>
                        <a:rPr lang="en-US" sz="1600" b="1" dirty="0">
                          <a:solidFill>
                            <a:srgbClr val="071F32"/>
                          </a:solidFill>
                        </a:rPr>
                        <a:t>PolandRent, Otodom Analytics</a:t>
                      </a:r>
                      <a:endParaRPr lang="en-US" sz="1600" dirty="0"/>
                    </a:p>
                  </a:txBody>
                  <a:tcPr marL="109728" marR="109728" marT="45720" marB="45720" anchor="ctr">
                    <a:lnL w="0" cap="flat" cmpd="sng" algn="ctr">
                      <a:noFill/>
                    </a:lnL>
                    <a:lnR w="0" cap="flat" cmpd="sng" algn="ctr">
                      <a:noFill/>
                    </a:lnR>
                    <a:lnT w="0" cap="flat" cmpd="sng" algn="ctr">
                      <a:noFill/>
                    </a:lnT>
                    <a:lnB w="12700" cap="flat" cmpd="sng" algn="ctr">
                      <a:solidFill>
                        <a:srgbClr val="BFBFBF"/>
                      </a:solidFill>
                      <a:prstDash val="solid"/>
                      <a:round/>
                      <a:headEnd type="none" w="med" len="med"/>
                      <a:tailEnd type="none" w="med" len="med"/>
                    </a:lnB>
                  </a:tcPr>
                </a:tc>
                <a:tc>
                  <a:txBody>
                    <a:bodyPr/>
                    <a:lstStyle/>
                    <a:p>
                      <a:pPr indent="0" marL="0">
                        <a:buNone/>
                      </a:pPr>
                      <a:r>
                        <a:rPr lang="en-US" sz="1600" dirty="0">
                          <a:solidFill>
                            <a:srgbClr val="071F32"/>
                          </a:solidFill>
                        </a:rPr>
                        <a:t>prices</a:t>
                      </a:r>
                      <a:endParaRPr lang="en-US" sz="1600" dirty="0"/>
                    </a:p>
                  </a:txBody>
                  <a:tcPr marL="109728" marR="109728" marT="45720" marB="45720" anchor="ctr">
                    <a:lnL w="0" cap="flat" cmpd="sng" algn="ctr">
                      <a:noFill/>
                    </a:lnL>
                    <a:lnR w="0" cap="flat" cmpd="sng" algn="ctr">
                      <a:noFill/>
                    </a:lnR>
                    <a:lnT w="0" cap="flat" cmpd="sng" algn="ctr">
                      <a:noFill/>
                    </a:lnT>
                    <a:lnB w="12700" cap="flat" cmpd="sng" algn="ctr">
                      <a:solidFill>
                        <a:srgbClr val="BFBFBF"/>
                      </a:solidFill>
                      <a:prstDash val="solid"/>
                      <a:round/>
                      <a:headEnd type="none" w="med" len="med"/>
                      <a:tailEnd type="none" w="med" len="med"/>
                    </a:lnB>
                  </a:tcPr>
                </a:tc>
              </a:tr>
              <a:tr h="1371600">
                <a:tc>
                  <a:txBody>
                    <a:bodyPr/>
                    <a:lstStyle/>
                    <a:p>
                      <a:pPr indent="0" marL="0">
                        <a:buNone/>
                      </a:pPr>
                      <a:r>
                        <a:rPr lang="en-US" sz="1600" b="1" dirty="0">
                          <a:solidFill>
                            <a:srgbClr val="0A3A66"/>
                          </a:solidFill>
                        </a:rPr>
                        <a:t>GdzieZamieszkać</a:t>
                      </a:r>
                      <a:endParaRPr lang="en-US" sz="1600" dirty="0"/>
                    </a:p>
                  </a:txBody>
                  <a:tcPr marL="109728" marR="109728" marT="45720" marB="45720" anchor="t">
                    <a:lnL w="0" cap="flat" cmpd="sng" algn="ctr">
                      <a:noFill/>
                    </a:lnL>
                    <a:lnR w="0" cap="flat" cmpd="sng" algn="ctr">
                      <a:noFill/>
                    </a:lnR>
                    <a:lnT w="0" cap="flat" cmpd="sng" algn="ctr">
                      <a:noFill/>
                    </a:lnT>
                    <a:lnB w="0" cap="flat" cmpd="sng" algn="ctr">
                      <a:noFill/>
                    </a:lnB>
                    <a:solidFill>
                      <a:srgbClr val="B5D3EE"/>
                    </a:solidFill>
                  </a:tcPr>
                </a:tc>
                <a:tc>
                  <a:txBody>
                    <a:bodyPr/>
                    <a:lstStyle/>
                    <a:p>
                      <a:pPr indent="0" marL="0">
                        <a:buNone/>
                      </a:pPr>
                      <a:r>
                        <a:rPr lang="en-US" sz="1600" b="1" dirty="0">
                          <a:solidFill>
                            <a:srgbClr val="0A3A66"/>
                          </a:solidFill>
                        </a:rPr>
                        <a:t>district recommender, household profile, provenance, deed prices, commute matrix, a city behind it</a:t>
                      </a:r>
                      <a:endParaRPr lang="en-US" sz="1600" dirty="0"/>
                    </a:p>
                  </a:txBody>
                  <a:tcPr marL="109728" marR="109728" marT="45720" marB="45720" anchor="t">
                    <a:lnL w="0" cap="flat" cmpd="sng" algn="ctr">
                      <a:noFill/>
                    </a:lnL>
                    <a:lnR w="0" cap="flat" cmpd="sng" algn="ctr">
                      <a:noFill/>
                    </a:lnR>
                    <a:lnT w="0" cap="flat" cmpd="sng" algn="ctr">
                      <a:noFill/>
                    </a:lnT>
                    <a:lnB w="0" cap="flat" cmpd="sng" algn="ctr">
                      <a:noFill/>
                    </a:lnB>
                    <a:solidFill>
                      <a:srgbClr val="B5D3EE"/>
                    </a:solidFill>
                  </a:tcPr>
                </a:tc>
              </a:tr>
            </a:tbl>
          </a:graphicData>
        </a:graphic>
      </p:graphicFrame>
      <p:sp>
        <p:nvSpPr>
          <p:cNvPr id="25" name="Slide Number Placeholder 0"/>
          <p:cNvSpPr>
            <a:spLocks noGrp="1"/>
          </p:cNvSpPr>
          <p:nvPr>
            <p:ph type="sldNum" sz="quarter" idx="4294967295"/>
          </p:nvPr>
        </p:nvSpPr>
        <p:spPr>
          <a:xfrm>
            <a:off x="11000232" y="27432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0"/>
          <p:cNvSpPr/>
          <p:nvPr>
            <p:ph idx="100" type="title" hasCustomPrompt="1"/>
          </p:nvPr>
        </p:nvSpPr>
        <p:spPr>
          <a:xfrm>
            <a:off x="640080" y="502920"/>
            <a:ext cx="10360152" cy="1143000"/>
          </a:xfrm>
          <a:prstGeom prst="rect">
            <a:avLst/>
          </a:prstGeom>
          <a:noFill/>
          <a:ln/>
        </p:spPr>
        <p:txBody>
          <a:bodyPr wrap="square" lIns="0" tIns="0" rIns="0" bIns="0" rtlCol="0" anchor="t"/>
          <a:lstStyle/>
          <a:p>
            <a:pPr indent="0" marL="0">
              <a:buNone/>
            </a:pPr>
            <a:r>
              <a:rPr lang="en-US" sz="3600" b="1" dirty="0">
                <a:solidFill>
                  <a:schemeClr val="bg1"/>
                </a:solidFill>
              </a:rPr>
              <a:t>What we brought, what we built here, what comes next</a:t>
            </a:r>
            <a:endParaRPr lang="en-US" sz="3600" dirty="0"/>
          </a:p>
        </p:txBody>
      </p:sp>
      <p:sp>
        <p:nvSpPr>
          <p:cNvPr id="4" name="Card"/>
          <p:cNvSpPr/>
          <p:nvPr/>
        </p:nvSpPr>
        <p:spPr>
          <a:xfrm>
            <a:off x="640080" y="1920240"/>
            <a:ext cx="3453384" cy="3566160"/>
          </a:xfrm>
          <a:prstGeom prst="roundRect">
            <a:avLst>
              <a:gd name="adj" fmla="val 3972"/>
            </a:avLst>
          </a:prstGeom>
          <a:solidFill>
            <a:srgbClr val="FFFFFF">
              <a:alpha val="10000"/>
            </a:srgbClr>
          </a:solidFill>
          <a:ln w="12700">
            <a:solidFill>
              <a:srgbClr val="5F83A8"/>
            </a:solidFill>
            <a:prstDash val="solid"/>
          </a:ln>
        </p:spPr>
      </p:sp>
      <p:sp>
        <p:nvSpPr>
          <p:cNvPr id="5" name="Eyebrow"/>
          <p:cNvSpPr txBox="1"/>
          <p:nvPr/>
        </p:nvSpPr>
        <p:spPr>
          <a:xfrm>
            <a:off x="914400" y="2148840"/>
            <a:ext cx="2904744" cy="274320"/>
          </a:xfrm>
          <a:prstGeom prst="rect">
            <a:avLst/>
          </a:prstGeom>
          <a:noFill/>
          <a:ln/>
        </p:spPr>
        <p:txBody>
          <a:bodyPr wrap="square" lIns="0" tIns="0" rIns="0" bIns="0" rtlCol="0" anchor="ctr"/>
          <a:lstStyle/>
          <a:p>
            <a:pPr indent="0" marL="0">
              <a:buNone/>
            </a:pPr>
            <a:r>
              <a:rPr lang="en-US" sz="1100" b="1" spc="100" kern="0" dirty="0">
                <a:solidFill>
                  <a:srgbClr val="B5D3EE"/>
                </a:solidFill>
              </a:rPr>
              <a:t>BEFORE HACKYEAH · 29 SEP TO 2 OCT</a:t>
            </a:r>
            <a:endParaRPr lang="en-US" sz="1100" dirty="0"/>
          </a:p>
        </p:txBody>
      </p:sp>
      <p:sp>
        <p:nvSpPr>
          <p:cNvPr id="6" name="Text 3"/>
          <p:cNvSpPr txBox="1"/>
          <p:nvPr/>
        </p:nvSpPr>
        <p:spPr>
          <a:xfrm>
            <a:off x="914400" y="2560320"/>
            <a:ext cx="2904744" cy="2834640"/>
          </a:xfrm>
          <a:prstGeom prst="rect">
            <a:avLst/>
          </a:prstGeom>
          <a:noFill/>
          <a:ln/>
        </p:spPr>
        <p:txBody>
          <a:bodyPr wrap="square" lIns="0" tIns="0" rIns="0" bIns="0" rtlCol="0" anchor="t"/>
          <a:lstStyle/>
          <a:p>
            <a:pPr marL="228600" indent="-228600">
              <a:spcAft>
                <a:spcPts val="600"/>
              </a:spcAft>
              <a:buSzPct val="100000"/>
              <a:buChar char="•"/>
            </a:pPr>
            <a:r>
              <a:rPr lang="en-US" sz="1500" dirty="0">
                <a:solidFill>
                  <a:schemeClr val="bg1"/>
                </a:solidFill>
              </a:rPr>
              <a:t>Data and database</a:t>
            </a:r>
            <a:endParaRPr lang="en-US" sz="1500" dirty="0"/>
          </a:p>
          <a:p>
            <a:pPr marL="228600" indent="-228600">
              <a:spcAft>
                <a:spcPts val="600"/>
              </a:spcAft>
              <a:buSzPct val="100000"/>
              <a:buChar char="•"/>
            </a:pPr>
            <a:r>
              <a:rPr lang="en-US" sz="1500" dirty="0">
                <a:solidFill>
                  <a:schemeClr val="bg1"/>
                </a:solidFill>
              </a:rPr>
              <a:t>Read-only backend API, 16 operations, 153 offline tests</a:t>
            </a:r>
            <a:endParaRPr lang="en-US" sz="1500" dirty="0"/>
          </a:p>
        </p:txBody>
      </p:sp>
      <p:sp>
        <p:nvSpPr>
          <p:cNvPr id="7" name="Card"/>
          <p:cNvSpPr/>
          <p:nvPr/>
        </p:nvSpPr>
        <p:spPr>
          <a:xfrm>
            <a:off x="4367784" y="1920240"/>
            <a:ext cx="3453384" cy="3566160"/>
          </a:xfrm>
          <a:prstGeom prst="roundRect">
            <a:avLst>
              <a:gd name="adj" fmla="val 3972"/>
            </a:avLst>
          </a:prstGeom>
          <a:solidFill>
            <a:srgbClr val="FFFFFF">
              <a:alpha val="10000"/>
            </a:srgbClr>
          </a:solidFill>
          <a:ln w="12700">
            <a:solidFill>
              <a:srgbClr val="5F83A8"/>
            </a:solidFill>
            <a:prstDash val="solid"/>
          </a:ln>
        </p:spPr>
      </p:sp>
      <p:sp>
        <p:nvSpPr>
          <p:cNvPr id="8" name="Eyebrow"/>
          <p:cNvSpPr txBox="1"/>
          <p:nvPr/>
        </p:nvSpPr>
        <p:spPr>
          <a:xfrm>
            <a:off x="4642104" y="2148840"/>
            <a:ext cx="2904744" cy="274320"/>
          </a:xfrm>
          <a:prstGeom prst="rect">
            <a:avLst/>
          </a:prstGeom>
          <a:noFill/>
          <a:ln/>
        </p:spPr>
        <p:txBody>
          <a:bodyPr wrap="square" lIns="0" tIns="0" rIns="0" bIns="0" rtlCol="0" anchor="ctr"/>
          <a:lstStyle/>
          <a:p>
            <a:pPr indent="0" marL="0">
              <a:buNone/>
            </a:pPr>
            <a:r>
              <a:rPr lang="en-US" sz="1100" b="1" spc="100" kern="0" dirty="0">
                <a:solidFill>
                  <a:srgbClr val="B5D3EE"/>
                </a:solidFill>
              </a:rPr>
              <a:t>AT HACKYEAH · 3 AND 4 OCT</a:t>
            </a:r>
            <a:endParaRPr lang="en-US" sz="1100" dirty="0"/>
          </a:p>
        </p:txBody>
      </p:sp>
      <p:sp>
        <p:nvSpPr>
          <p:cNvPr id="9" name="Text 6"/>
          <p:cNvSpPr txBox="1"/>
          <p:nvPr/>
        </p:nvSpPr>
        <p:spPr>
          <a:xfrm>
            <a:off x="4642104" y="2560320"/>
            <a:ext cx="2904744" cy="2834640"/>
          </a:xfrm>
          <a:prstGeom prst="rect">
            <a:avLst/>
          </a:prstGeom>
          <a:noFill/>
          <a:ln/>
        </p:spPr>
        <p:txBody>
          <a:bodyPr wrap="square" lIns="0" tIns="0" rIns="0" bIns="0" rtlCol="0" anchor="t"/>
          <a:lstStyle/>
          <a:p>
            <a:pPr marL="228600" indent="-228600">
              <a:spcAft>
                <a:spcPts val="600"/>
              </a:spcAft>
              <a:buSzPct val="100000"/>
              <a:buChar char="•"/>
            </a:pPr>
            <a:r>
              <a:rPr lang="en-US" sz="1500" dirty="0">
                <a:solidFill>
                  <a:schemeClr val="bg1"/>
                </a:solidFill>
              </a:rPr>
              <a:t>Frontend</a:t>
            </a:r>
            <a:endParaRPr lang="en-US" sz="1500" dirty="0"/>
          </a:p>
          <a:p>
            <a:pPr marL="228600" indent="-228600">
              <a:spcAft>
                <a:spcPts val="600"/>
              </a:spcAft>
              <a:buSzPct val="100000"/>
              <a:buChar char="•"/>
            </a:pPr>
            <a:r>
              <a:rPr lang="en-US" sz="1500" dirty="0">
                <a:solidFill>
                  <a:schemeClr val="bg1"/>
                </a:solidFill>
              </a:rPr>
              <a:t>City service: personalised AI report, resident feedback</a:t>
            </a:r>
            <a:endParaRPr lang="en-US" sz="1500" dirty="0"/>
          </a:p>
          <a:p>
            <a:pPr marL="228600" indent="-228600">
              <a:spcAft>
                <a:spcPts val="600"/>
              </a:spcAft>
              <a:buSzPct val="100000"/>
              <a:buChar char="•"/>
            </a:pPr>
            <a:r>
              <a:rPr lang="en-US" sz="1500" dirty="0">
                <a:solidFill>
                  <a:schemeClr val="bg1"/>
                </a:solidFill>
              </a:rPr>
              <a:t>Documents, changelog</a:t>
            </a:r>
            <a:endParaRPr lang="en-US" sz="1500" dirty="0"/>
          </a:p>
        </p:txBody>
      </p:sp>
      <p:sp>
        <p:nvSpPr>
          <p:cNvPr id="10" name="Card"/>
          <p:cNvSpPr/>
          <p:nvPr/>
        </p:nvSpPr>
        <p:spPr>
          <a:xfrm>
            <a:off x="8095488" y="1920240"/>
            <a:ext cx="3453384" cy="3566160"/>
          </a:xfrm>
          <a:prstGeom prst="roundRect">
            <a:avLst>
              <a:gd name="adj" fmla="val 3972"/>
            </a:avLst>
          </a:prstGeom>
          <a:solidFill>
            <a:srgbClr val="FFFFFF">
              <a:alpha val="10000"/>
            </a:srgbClr>
          </a:solidFill>
          <a:ln w="12700">
            <a:solidFill>
              <a:srgbClr val="5F83A8"/>
            </a:solidFill>
            <a:prstDash val="solid"/>
          </a:ln>
        </p:spPr>
      </p:sp>
      <p:sp>
        <p:nvSpPr>
          <p:cNvPr id="11" name="Eyebrow"/>
          <p:cNvSpPr txBox="1"/>
          <p:nvPr/>
        </p:nvSpPr>
        <p:spPr>
          <a:xfrm>
            <a:off x="8369808" y="2148840"/>
            <a:ext cx="2904744" cy="274320"/>
          </a:xfrm>
          <a:prstGeom prst="rect">
            <a:avLst/>
          </a:prstGeom>
          <a:noFill/>
          <a:ln/>
        </p:spPr>
        <p:txBody>
          <a:bodyPr wrap="square" lIns="0" tIns="0" rIns="0" bIns="0" rtlCol="0" anchor="ctr"/>
          <a:lstStyle/>
          <a:p>
            <a:pPr indent="0" marL="0">
              <a:buNone/>
            </a:pPr>
            <a:r>
              <a:rPr lang="en-US" sz="1100" b="1" spc="100" kern="0" dirty="0">
                <a:solidFill>
                  <a:srgbClr val="B5D3EE"/>
                </a:solidFill>
              </a:rPr>
              <a:t>NEXT</a:t>
            </a:r>
            <a:endParaRPr lang="en-US" sz="1100" dirty="0"/>
          </a:p>
        </p:txBody>
      </p:sp>
      <p:sp>
        <p:nvSpPr>
          <p:cNvPr id="12" name="Text 9"/>
          <p:cNvSpPr txBox="1"/>
          <p:nvPr/>
        </p:nvSpPr>
        <p:spPr>
          <a:xfrm>
            <a:off x="8369808" y="2560320"/>
            <a:ext cx="2904744" cy="2834640"/>
          </a:xfrm>
          <a:prstGeom prst="rect">
            <a:avLst/>
          </a:prstGeom>
          <a:noFill/>
          <a:ln/>
        </p:spPr>
        <p:txBody>
          <a:bodyPr wrap="square" lIns="0" tIns="0" rIns="0" bIns="0" rtlCol="0" anchor="t"/>
          <a:lstStyle/>
          <a:p>
            <a:pPr marL="228600" indent="-228600">
              <a:spcAft>
                <a:spcPts val="600"/>
              </a:spcAft>
              <a:buSzPct val="100000"/>
              <a:buChar char="•"/>
            </a:pPr>
            <a:r>
              <a:rPr lang="en-US" sz="1500" dirty="0">
                <a:solidFill>
                  <a:schemeClr val="bg1"/>
                </a:solidFill>
              </a:rPr>
              <a:t>Deploy on a server</a:t>
            </a:r>
            <a:endParaRPr lang="en-US" sz="1500" dirty="0"/>
          </a:p>
          <a:p>
            <a:pPr marL="228600" indent="-228600">
              <a:spcAft>
                <a:spcPts val="600"/>
              </a:spcAft>
              <a:buSzPct val="100000"/>
              <a:buChar char="•"/>
            </a:pPr>
            <a:r>
              <a:rPr lang="en-US" sz="1500" dirty="0">
                <a:solidFill>
                  <a:schemeClr val="bg1"/>
                </a:solidFill>
              </a:rPr>
              <a:t>Polish legal opinion: fees, AI transparency (EU AI Act, Article 50)</a:t>
            </a:r>
            <a:endParaRPr lang="en-US" sz="1500" dirty="0"/>
          </a:p>
          <a:p>
            <a:pPr marL="228600" indent="-228600">
              <a:spcAft>
                <a:spcPts val="600"/>
              </a:spcAft>
              <a:buSzPct val="100000"/>
              <a:buChar char="•"/>
            </a:pPr>
            <a:r>
              <a:rPr lang="en-US" sz="1500" dirty="0">
                <a:solidFill>
                  <a:schemeClr val="bg1"/>
                </a:solidFill>
              </a:rPr>
              <a:t>National login node</a:t>
            </a:r>
            <a:endParaRPr lang="en-US" sz="1500" dirty="0"/>
          </a:p>
          <a:p>
            <a:pPr marL="228600" indent="-228600">
              <a:spcAft>
                <a:spcPts val="600"/>
              </a:spcAft>
              <a:buSzPct val="100000"/>
              <a:buChar char="•"/>
            </a:pPr>
            <a:r>
              <a:rPr lang="en-US" sz="1500" dirty="0">
                <a:solidFill>
                  <a:schemeClr val="bg1"/>
                </a:solidFill>
              </a:rPr>
              <a:t>A second city</a:t>
            </a:r>
            <a:endParaRPr lang="en-US" sz="1500" dirty="0"/>
          </a:p>
          <a:p>
            <a:pPr marL="228600" indent="-228600">
              <a:spcAft>
                <a:spcPts val="600"/>
              </a:spcAft>
              <a:buSzPct val="100000"/>
              <a:buChar char="•"/>
            </a:pPr>
            <a:r>
              <a:rPr lang="en-US" sz="1500" dirty="0">
                <a:solidFill>
                  <a:schemeClr val="bg1"/>
                </a:solidFill>
              </a:rPr>
              <a:t>Data-sharing agreements for rents</a:t>
            </a:r>
            <a:endParaRPr lang="en-US" sz="1500" dirty="0"/>
          </a:p>
        </p:txBody>
      </p:sp>
      <p:sp>
        <p:nvSpPr>
          <p:cNvPr id="13" name="Text 10"/>
          <p:cNvSpPr txBox="1"/>
          <p:nvPr/>
        </p:nvSpPr>
        <p:spPr>
          <a:xfrm>
            <a:off x="640080" y="5669280"/>
            <a:ext cx="10908792" cy="640080"/>
          </a:xfrm>
          <a:prstGeom prst="rect">
            <a:avLst/>
          </a:prstGeom>
          <a:noFill/>
          <a:ln/>
        </p:spPr>
        <p:txBody>
          <a:bodyPr wrap="square" lIns="0" tIns="0" rIns="0" bIns="0" rtlCol="0" anchor="t"/>
          <a:lstStyle/>
          <a:p>
            <a:pPr indent="0" marL="0">
              <a:buNone/>
            </a:pPr>
            <a:r>
              <a:rPr lang="en-US" sz="1400" dirty="0">
                <a:solidFill>
                  <a:srgbClr val="E5F0FA"/>
                </a:solidFill>
              </a:rPr>
              <a:t>Open: who operates it, and who pays. Our ask to Kraków: host it as a free public service. · Delta-43 · Rysia · unicorn-alex · github.com/Delta-43/GdzieZamieszkac</a:t>
            </a:r>
            <a:endParaRPr lang="en-US" sz="1400" dirty="0"/>
          </a:p>
        </p:txBody>
      </p:sp>
      <p:sp>
        <p:nvSpPr>
          <p:cNvPr id="25" name="Slide Number Placeholder 0"/>
          <p:cNvSpPr>
            <a:spLocks noGrp="1"/>
          </p:cNvSpPr>
          <p:nvPr>
            <p:ph type="sldNum" sz="quarter" idx="4294967295"/>
          </p:nvPr>
        </p:nvSpPr>
        <p:spPr>
          <a:xfrm>
            <a:off x="11000232" y="27432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2"/>
                </a:solidFill>
              </a:defRPr>
            </a:lvl1pPr>
          </a:lstStyle>
          <a:p>
            <a:pPr algn="r"/>
            <a:fld id="{F7021451-1387-4CA6-816F-3879F97B5CBC}" type="slidenum">
              <a:rPr b="1" lang="en-US"/>
              <a:t>10</a:t>
            </a:fld>
            <a:endParaRPr lang="en-US"/>
          </a:p>
        </p:txBody>
      </p:sp>
    </p:spTree>
  </p:cSld>
  <p:clrMapOvr>
    <a:masterClrMapping/>
  </p:clrMapOvr>
</p:sld>
</file>

<file path=ppt/theme/theme1.xml><?xml version="1.0" encoding="utf-8"?>
<a:theme xmlns:a="http://schemas.openxmlformats.org/drawingml/2006/main" name="GdzieZamieszkac">
  <a:themeElements>
    <a:clrScheme name="GdzieZamieszkac">
      <a:dk1>
        <a:srgbClr val="071F32"/>
      </a:dk1>
      <a:lt1>
        <a:srgbClr val="FFFFFF"/>
      </a:lt1>
      <a:dk2>
        <a:srgbClr val="0A3A66"/>
      </a:dk2>
      <a:lt2>
        <a:srgbClr val="F5F5F5"/>
      </a:lt2>
      <a:accent1>
        <a:srgbClr val="0063AF"/>
      </a:accent1>
      <a:accent2>
        <a:srgbClr val="B5D3EE"/>
      </a:accent2>
      <a:accent3>
        <a:srgbClr val="286CAB"/>
      </a:accent3>
      <a:accent4>
        <a:srgbClr val="21763C"/>
      </a:accent4>
      <a:accent5>
        <a:srgbClr val="AA6A00"/>
      </a:accent5>
      <a:accent6>
        <a:srgbClr val="E5F0FA"/>
      </a:accent6>
      <a:hlink>
        <a:srgbClr val="0063AF"/>
      </a:hlink>
      <a:folHlink>
        <a:srgbClr val="286CAB"/>
      </a:folHlink>
    </a:clrScheme>
    <a:fontScheme name="GdzieZamieszkac">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GdzieZamieszkać: pitch, HackYeah 2026</dc:title>
  <dc:subject>PptxGenJS Presentation</dc:subject>
  <dc:creator>PptxGenJS</dc:creator>
  <cp:lastModifiedBy>PptxGenJS</cp:lastModifiedBy>
  <cp:revision>1</cp:revision>
  <dcterms:created xsi:type="dcterms:W3CDTF">2026-10-04T04:52:46Z</dcterms:created>
  <dcterms:modified xsi:type="dcterms:W3CDTF">2026-10-04T04:52:46Z</dcterms:modified>
</cp:coreProperties>
</file>